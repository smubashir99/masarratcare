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F8D4E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pc="-10"/>
              <a:t>MasarratCare</a:t>
            </a:r>
            <a:r>
              <a:rPr dirty="0" spc="-50"/>
              <a:t> </a:t>
            </a:r>
            <a:r>
              <a:rPr dirty="0"/>
              <a:t>|</a:t>
            </a:r>
            <a:r>
              <a:rPr dirty="0" spc="-10"/>
              <a:t> </a:t>
            </a:r>
            <a:r>
              <a:rPr dirty="0"/>
              <a:t>Syed</a:t>
            </a:r>
            <a:r>
              <a:rPr dirty="0" spc="5"/>
              <a:t> </a:t>
            </a:r>
            <a:r>
              <a:rPr dirty="0"/>
              <a:t>Mubashir</a:t>
            </a:r>
            <a:r>
              <a:rPr dirty="0" spc="15"/>
              <a:t> </a:t>
            </a:r>
            <a:r>
              <a:rPr dirty="0"/>
              <a:t>Ahmed</a:t>
            </a:r>
            <a:r>
              <a:rPr dirty="0" spc="10"/>
              <a:t> </a:t>
            </a:r>
            <a:r>
              <a:rPr dirty="0" spc="-10"/>
              <a:t>Hashmi</a:t>
            </a:r>
            <a:r>
              <a:rPr dirty="0" spc="-35"/>
              <a:t> </a:t>
            </a:r>
            <a:r>
              <a:rPr dirty="0"/>
              <a:t>|</a:t>
            </a:r>
            <a:r>
              <a:rPr dirty="0" spc="-10"/>
              <a:t> 20089221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F8D4E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pc="-10"/>
              <a:t>MasarratCare</a:t>
            </a:r>
            <a:r>
              <a:rPr dirty="0" spc="-50"/>
              <a:t> </a:t>
            </a:r>
            <a:r>
              <a:rPr dirty="0"/>
              <a:t>|</a:t>
            </a:r>
            <a:r>
              <a:rPr dirty="0" spc="-10"/>
              <a:t> </a:t>
            </a:r>
            <a:r>
              <a:rPr dirty="0"/>
              <a:t>Syed</a:t>
            </a:r>
            <a:r>
              <a:rPr dirty="0" spc="5"/>
              <a:t> </a:t>
            </a:r>
            <a:r>
              <a:rPr dirty="0"/>
              <a:t>Mubashir</a:t>
            </a:r>
            <a:r>
              <a:rPr dirty="0" spc="15"/>
              <a:t> </a:t>
            </a:r>
            <a:r>
              <a:rPr dirty="0"/>
              <a:t>Ahmed</a:t>
            </a:r>
            <a:r>
              <a:rPr dirty="0" spc="10"/>
              <a:t> </a:t>
            </a:r>
            <a:r>
              <a:rPr dirty="0" spc="-10"/>
              <a:t>Hashmi</a:t>
            </a:r>
            <a:r>
              <a:rPr dirty="0" spc="-35"/>
              <a:t> </a:t>
            </a:r>
            <a:r>
              <a:rPr dirty="0"/>
              <a:t>|</a:t>
            </a:r>
            <a:r>
              <a:rPr dirty="0" spc="-10"/>
              <a:t> 20089221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F8D4E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pc="-10"/>
              <a:t>MasarratCare</a:t>
            </a:r>
            <a:r>
              <a:rPr dirty="0" spc="-50"/>
              <a:t> </a:t>
            </a:r>
            <a:r>
              <a:rPr dirty="0"/>
              <a:t>|</a:t>
            </a:r>
            <a:r>
              <a:rPr dirty="0" spc="-10"/>
              <a:t> </a:t>
            </a:r>
            <a:r>
              <a:rPr dirty="0"/>
              <a:t>Syed</a:t>
            </a:r>
            <a:r>
              <a:rPr dirty="0" spc="5"/>
              <a:t> </a:t>
            </a:r>
            <a:r>
              <a:rPr dirty="0"/>
              <a:t>Mubashir</a:t>
            </a:r>
            <a:r>
              <a:rPr dirty="0" spc="15"/>
              <a:t> </a:t>
            </a:r>
            <a:r>
              <a:rPr dirty="0"/>
              <a:t>Ahmed</a:t>
            </a:r>
            <a:r>
              <a:rPr dirty="0" spc="10"/>
              <a:t> </a:t>
            </a:r>
            <a:r>
              <a:rPr dirty="0" spc="-10"/>
              <a:t>Hashmi</a:t>
            </a:r>
            <a:r>
              <a:rPr dirty="0" spc="-35"/>
              <a:t> </a:t>
            </a:r>
            <a:r>
              <a:rPr dirty="0"/>
              <a:t>|</a:t>
            </a:r>
            <a:r>
              <a:rPr dirty="0" spc="-10"/>
              <a:t> 20089221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F8D4E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pc="-10"/>
              <a:t>MasarratCare</a:t>
            </a:r>
            <a:r>
              <a:rPr dirty="0" spc="-50"/>
              <a:t> </a:t>
            </a:r>
            <a:r>
              <a:rPr dirty="0"/>
              <a:t>|</a:t>
            </a:r>
            <a:r>
              <a:rPr dirty="0" spc="-10"/>
              <a:t> </a:t>
            </a:r>
            <a:r>
              <a:rPr dirty="0"/>
              <a:t>Syed</a:t>
            </a:r>
            <a:r>
              <a:rPr dirty="0" spc="5"/>
              <a:t> </a:t>
            </a:r>
            <a:r>
              <a:rPr dirty="0"/>
              <a:t>Mubashir</a:t>
            </a:r>
            <a:r>
              <a:rPr dirty="0" spc="15"/>
              <a:t> </a:t>
            </a:r>
            <a:r>
              <a:rPr dirty="0"/>
              <a:t>Ahmed</a:t>
            </a:r>
            <a:r>
              <a:rPr dirty="0" spc="10"/>
              <a:t> </a:t>
            </a:r>
            <a:r>
              <a:rPr dirty="0" spc="-10"/>
              <a:t>Hashmi</a:t>
            </a:r>
            <a:r>
              <a:rPr dirty="0" spc="-35"/>
              <a:t> </a:t>
            </a:r>
            <a:r>
              <a:rPr dirty="0"/>
              <a:t>|</a:t>
            </a:r>
            <a:r>
              <a:rPr dirty="0" spc="-10"/>
              <a:t> 20089221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F8D4E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pc="-10"/>
              <a:t>MasarratCare</a:t>
            </a:r>
            <a:r>
              <a:rPr dirty="0" spc="-50"/>
              <a:t> </a:t>
            </a:r>
            <a:r>
              <a:rPr dirty="0"/>
              <a:t>|</a:t>
            </a:r>
            <a:r>
              <a:rPr dirty="0" spc="-10"/>
              <a:t> </a:t>
            </a:r>
            <a:r>
              <a:rPr dirty="0"/>
              <a:t>Syed</a:t>
            </a:r>
            <a:r>
              <a:rPr dirty="0" spc="5"/>
              <a:t> </a:t>
            </a:r>
            <a:r>
              <a:rPr dirty="0"/>
              <a:t>Mubashir</a:t>
            </a:r>
            <a:r>
              <a:rPr dirty="0" spc="15"/>
              <a:t> </a:t>
            </a:r>
            <a:r>
              <a:rPr dirty="0"/>
              <a:t>Ahmed</a:t>
            </a:r>
            <a:r>
              <a:rPr dirty="0" spc="10"/>
              <a:t> </a:t>
            </a:r>
            <a:r>
              <a:rPr dirty="0" spc="-10"/>
              <a:t>Hashmi</a:t>
            </a:r>
            <a:r>
              <a:rPr dirty="0" spc="-35"/>
              <a:t> </a:t>
            </a:r>
            <a:r>
              <a:rPr dirty="0"/>
              <a:t>|</a:t>
            </a:r>
            <a:r>
              <a:rPr dirty="0" spc="-10"/>
              <a:t> 20089221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763" y="4826"/>
            <a:ext cx="9139555" cy="914400"/>
          </a:xfrm>
          <a:custGeom>
            <a:avLst/>
            <a:gdLst/>
            <a:ahLst/>
            <a:cxnLst/>
            <a:rect l="l" t="t" r="r" b="b"/>
            <a:pathLst>
              <a:path w="9139555" h="914400">
                <a:moveTo>
                  <a:pt x="9139236" y="0"/>
                </a:moveTo>
                <a:lnTo>
                  <a:pt x="0" y="0"/>
                </a:lnTo>
                <a:lnTo>
                  <a:pt x="0" y="914400"/>
                </a:lnTo>
                <a:lnTo>
                  <a:pt x="9139236" y="914400"/>
                </a:lnTo>
                <a:lnTo>
                  <a:pt x="9139236" y="0"/>
                </a:lnTo>
                <a:close/>
              </a:path>
            </a:pathLst>
          </a:custGeom>
          <a:solidFill>
            <a:srgbClr val="7B2C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763" y="4826"/>
            <a:ext cx="9139555" cy="914400"/>
          </a:xfrm>
          <a:custGeom>
            <a:avLst/>
            <a:gdLst/>
            <a:ahLst/>
            <a:cxnLst/>
            <a:rect l="l" t="t" r="r" b="b"/>
            <a:pathLst>
              <a:path w="9139555" h="914400">
                <a:moveTo>
                  <a:pt x="9139236" y="0"/>
                </a:moveTo>
                <a:lnTo>
                  <a:pt x="0" y="0"/>
                </a:lnTo>
                <a:lnTo>
                  <a:pt x="0" y="914400"/>
                </a:lnTo>
                <a:lnTo>
                  <a:pt x="9139236" y="914400"/>
                </a:lnTo>
              </a:path>
            </a:pathLst>
          </a:custGeom>
          <a:ln w="12700">
            <a:solidFill>
              <a:srgbClr val="7B2C6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2570" y="90424"/>
            <a:ext cx="5653405" cy="575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6537" y="1046162"/>
            <a:ext cx="4203700" cy="3523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99764" y="4870537"/>
            <a:ext cx="2748915" cy="165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F8D4E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pc="-10"/>
              <a:t>MasarratCare</a:t>
            </a:r>
            <a:r>
              <a:rPr dirty="0" spc="-50"/>
              <a:t> </a:t>
            </a:r>
            <a:r>
              <a:rPr dirty="0"/>
              <a:t>|</a:t>
            </a:r>
            <a:r>
              <a:rPr dirty="0" spc="-10"/>
              <a:t> </a:t>
            </a:r>
            <a:r>
              <a:rPr dirty="0"/>
              <a:t>Syed</a:t>
            </a:r>
            <a:r>
              <a:rPr dirty="0" spc="5"/>
              <a:t> </a:t>
            </a:r>
            <a:r>
              <a:rPr dirty="0"/>
              <a:t>Mubashir</a:t>
            </a:r>
            <a:r>
              <a:rPr dirty="0" spc="15"/>
              <a:t> </a:t>
            </a:r>
            <a:r>
              <a:rPr dirty="0"/>
              <a:t>Ahmed</a:t>
            </a:r>
            <a:r>
              <a:rPr dirty="0" spc="10"/>
              <a:t> </a:t>
            </a:r>
            <a:r>
              <a:rPr dirty="0" spc="-10"/>
              <a:t>Hashmi</a:t>
            </a:r>
            <a:r>
              <a:rPr dirty="0" spc="-35"/>
              <a:t> </a:t>
            </a:r>
            <a:r>
              <a:rPr dirty="0"/>
              <a:t>|</a:t>
            </a:r>
            <a:r>
              <a:rPr dirty="0" spc="-10"/>
              <a:t> 20089221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masarratcare-v5nk.onrender.com/" TargetMode="External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Relationship Id="rId13" Type="http://schemas.openxmlformats.org/officeDocument/2006/relationships/image" Target="../media/image2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hyperlink" Target="https://masarratcare-v5nk.onrender.com/" TargetMode="External"/><Relationship Id="rId5" Type="http://schemas.openxmlformats.org/officeDocument/2006/relationships/image" Target="../media/image4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81026"/>
            <a:ext cx="5080" cy="5062855"/>
          </a:xfrm>
          <a:custGeom>
            <a:avLst/>
            <a:gdLst/>
            <a:ahLst/>
            <a:cxnLst/>
            <a:rect l="l" t="t" r="r" b="b"/>
            <a:pathLst>
              <a:path w="5080" h="5062855">
                <a:moveTo>
                  <a:pt x="0" y="5062473"/>
                </a:moveTo>
                <a:lnTo>
                  <a:pt x="4763" y="5062473"/>
                </a:lnTo>
                <a:lnTo>
                  <a:pt x="4763" y="0"/>
                </a:lnTo>
                <a:lnTo>
                  <a:pt x="0" y="0"/>
                </a:lnTo>
                <a:lnTo>
                  <a:pt x="0" y="5062473"/>
                </a:lnTo>
                <a:close/>
              </a:path>
            </a:pathLst>
          </a:custGeom>
          <a:solidFill>
            <a:srgbClr val="7B2C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0963" y="81026"/>
            <a:ext cx="9063355" cy="5062855"/>
          </a:xfrm>
          <a:custGeom>
            <a:avLst/>
            <a:gdLst/>
            <a:ahLst/>
            <a:cxnLst/>
            <a:rect l="l" t="t" r="r" b="b"/>
            <a:pathLst>
              <a:path w="9063355" h="5062855">
                <a:moveTo>
                  <a:pt x="0" y="5062473"/>
                </a:moveTo>
                <a:lnTo>
                  <a:pt x="9063036" y="5062473"/>
                </a:lnTo>
                <a:lnTo>
                  <a:pt x="9063036" y="0"/>
                </a:lnTo>
                <a:lnTo>
                  <a:pt x="0" y="0"/>
                </a:lnTo>
                <a:lnTo>
                  <a:pt x="0" y="5062473"/>
                </a:lnTo>
                <a:close/>
              </a:path>
            </a:pathLst>
          </a:custGeom>
          <a:solidFill>
            <a:srgbClr val="7B2C6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-1586" y="-1587"/>
            <a:ext cx="9152255" cy="5151755"/>
            <a:chOff x="-1586" y="-1587"/>
            <a:chExt cx="9152255" cy="5151755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9144000" cy="5080"/>
            </a:xfrm>
            <a:custGeom>
              <a:avLst/>
              <a:gdLst/>
              <a:ahLst/>
              <a:cxnLst/>
              <a:rect l="l" t="t" r="r" b="b"/>
              <a:pathLst>
                <a:path w="9144000" h="5080">
                  <a:moveTo>
                    <a:pt x="0" y="4826"/>
                  </a:moveTo>
                  <a:lnTo>
                    <a:pt x="9144000" y="4826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826"/>
                  </a:lnTo>
                  <a:close/>
                </a:path>
              </a:pathLst>
            </a:custGeom>
            <a:solidFill>
              <a:srgbClr val="7B2C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763" y="4825"/>
              <a:ext cx="9139555" cy="76200"/>
            </a:xfrm>
            <a:custGeom>
              <a:avLst/>
              <a:gdLst/>
              <a:ahLst/>
              <a:cxnLst/>
              <a:rect l="l" t="t" r="r" b="b"/>
              <a:pathLst>
                <a:path w="9139555" h="76200">
                  <a:moveTo>
                    <a:pt x="9139236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9139236" y="76200"/>
                  </a:lnTo>
                  <a:lnTo>
                    <a:pt x="9139236" y="0"/>
                  </a:lnTo>
                  <a:close/>
                </a:path>
              </a:pathLst>
            </a:custGeom>
            <a:solidFill>
              <a:srgbClr val="F471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763" y="4825"/>
              <a:ext cx="9139555" cy="76200"/>
            </a:xfrm>
            <a:custGeom>
              <a:avLst/>
              <a:gdLst/>
              <a:ahLst/>
              <a:cxnLst/>
              <a:rect l="l" t="t" r="r" b="b"/>
              <a:pathLst>
                <a:path w="9139555" h="76200">
                  <a:moveTo>
                    <a:pt x="9139236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9139236" y="76200"/>
                  </a:lnTo>
                </a:path>
              </a:pathLst>
            </a:custGeom>
            <a:ln w="12700">
              <a:solidFill>
                <a:srgbClr val="F471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763" y="4762"/>
              <a:ext cx="76200" cy="5139055"/>
            </a:xfrm>
            <a:custGeom>
              <a:avLst/>
              <a:gdLst/>
              <a:ahLst/>
              <a:cxnLst/>
              <a:rect l="l" t="t" r="r" b="b"/>
              <a:pathLst>
                <a:path w="76200" h="5139055">
                  <a:moveTo>
                    <a:pt x="76200" y="0"/>
                  </a:moveTo>
                  <a:lnTo>
                    <a:pt x="0" y="0"/>
                  </a:lnTo>
                  <a:lnTo>
                    <a:pt x="0" y="5138737"/>
                  </a:lnTo>
                  <a:lnTo>
                    <a:pt x="76200" y="5138737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471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763" y="4762"/>
              <a:ext cx="76200" cy="5139055"/>
            </a:xfrm>
            <a:custGeom>
              <a:avLst/>
              <a:gdLst/>
              <a:ahLst/>
              <a:cxnLst/>
              <a:rect l="l" t="t" r="r" b="b"/>
              <a:pathLst>
                <a:path w="76200" h="5139055">
                  <a:moveTo>
                    <a:pt x="76200" y="5138737"/>
                  </a:moveTo>
                  <a:lnTo>
                    <a:pt x="76200" y="0"/>
                  </a:lnTo>
                  <a:lnTo>
                    <a:pt x="0" y="0"/>
                  </a:lnTo>
                  <a:lnTo>
                    <a:pt x="0" y="5138737"/>
                  </a:lnTo>
                </a:path>
              </a:pathLst>
            </a:custGeom>
            <a:ln w="12700">
              <a:solidFill>
                <a:srgbClr val="F471B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324" y="647700"/>
              <a:ext cx="6177026" cy="1509649"/>
            </a:xfrm>
            <a:prstGeom prst="rect">
              <a:avLst/>
            </a:prstGeom>
          </p:spPr>
        </p:pic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455612" y="731901"/>
            <a:ext cx="5956300" cy="1289050"/>
          </a:xfrm>
          <a:prstGeom prst="rect"/>
          <a:solidFill>
            <a:srgbClr val="B54689"/>
          </a:solidFill>
          <a:ln w="3175">
            <a:solidFill>
              <a:srgbClr val="B54689"/>
            </a:solidFill>
          </a:ln>
        </p:spPr>
        <p:txBody>
          <a:bodyPr wrap="square" lIns="0" tIns="27241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2145"/>
              </a:spcBef>
            </a:pPr>
            <a:r>
              <a:rPr dirty="0" sz="4400" spc="-10"/>
              <a:t>MasarratCare</a:t>
            </a:r>
            <a:endParaRPr sz="4400"/>
          </a:p>
        </p:txBody>
      </p:sp>
      <p:sp>
        <p:nvSpPr>
          <p:cNvPr id="12" name="object 12"/>
          <p:cNvSpPr txBox="1"/>
          <p:nvPr/>
        </p:nvSpPr>
        <p:spPr>
          <a:xfrm>
            <a:off x="1614169" y="2237104"/>
            <a:ext cx="3638550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i="1">
                <a:solidFill>
                  <a:srgbClr val="F8D4EB"/>
                </a:solidFill>
                <a:latin typeface="Calibri"/>
                <a:cs typeface="Calibri"/>
              </a:rPr>
              <a:t>Product</a:t>
            </a:r>
            <a:r>
              <a:rPr dirty="0" sz="1550" spc="105" i="1">
                <a:solidFill>
                  <a:srgbClr val="F8D4EB"/>
                </a:solidFill>
                <a:latin typeface="Calibri"/>
                <a:cs typeface="Calibri"/>
              </a:rPr>
              <a:t> </a:t>
            </a:r>
            <a:r>
              <a:rPr dirty="0" sz="1550" i="1">
                <a:solidFill>
                  <a:srgbClr val="F8D4EB"/>
                </a:solidFill>
                <a:latin typeface="Calibri"/>
                <a:cs typeface="Calibri"/>
              </a:rPr>
              <a:t>Authenticity</a:t>
            </a:r>
            <a:r>
              <a:rPr dirty="0" sz="1550" spc="150" i="1">
                <a:solidFill>
                  <a:srgbClr val="F8D4EB"/>
                </a:solidFill>
                <a:latin typeface="Calibri"/>
                <a:cs typeface="Calibri"/>
              </a:rPr>
              <a:t> </a:t>
            </a:r>
            <a:r>
              <a:rPr dirty="0" sz="1550" i="1">
                <a:solidFill>
                  <a:srgbClr val="F8D4EB"/>
                </a:solidFill>
                <a:latin typeface="Calibri"/>
                <a:cs typeface="Calibri"/>
              </a:rPr>
              <a:t>&amp;</a:t>
            </a:r>
            <a:r>
              <a:rPr dirty="0" sz="1550" spc="75" i="1">
                <a:solidFill>
                  <a:srgbClr val="F8D4EB"/>
                </a:solidFill>
                <a:latin typeface="Calibri"/>
                <a:cs typeface="Calibri"/>
              </a:rPr>
              <a:t> </a:t>
            </a:r>
            <a:r>
              <a:rPr dirty="0" sz="1550" i="1">
                <a:solidFill>
                  <a:srgbClr val="F8D4EB"/>
                </a:solidFill>
                <a:latin typeface="Calibri"/>
                <a:cs typeface="Calibri"/>
              </a:rPr>
              <a:t>Shade</a:t>
            </a:r>
            <a:r>
              <a:rPr dirty="0" sz="1550" spc="105" i="1">
                <a:solidFill>
                  <a:srgbClr val="F8D4EB"/>
                </a:solidFill>
                <a:latin typeface="Calibri"/>
                <a:cs typeface="Calibri"/>
              </a:rPr>
              <a:t> </a:t>
            </a:r>
            <a:r>
              <a:rPr dirty="0" sz="1550" i="1">
                <a:solidFill>
                  <a:srgbClr val="F8D4EB"/>
                </a:solidFill>
                <a:latin typeface="Calibri"/>
                <a:cs typeface="Calibri"/>
              </a:rPr>
              <a:t>Finder</a:t>
            </a:r>
            <a:r>
              <a:rPr dirty="0" sz="1550" spc="90" i="1">
                <a:solidFill>
                  <a:srgbClr val="F8D4EB"/>
                </a:solidFill>
                <a:latin typeface="Calibri"/>
                <a:cs typeface="Calibri"/>
              </a:rPr>
              <a:t> </a:t>
            </a:r>
            <a:r>
              <a:rPr dirty="0" sz="1550" spc="-10" i="1">
                <a:solidFill>
                  <a:srgbClr val="F8D4EB"/>
                </a:solidFill>
                <a:latin typeface="Calibri"/>
                <a:cs typeface="Calibri"/>
              </a:rPr>
              <a:t>System</a:t>
            </a:r>
            <a:endParaRPr sz="155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38900" y="552386"/>
            <a:ext cx="2614676" cy="3891026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586601" y="642937"/>
            <a:ext cx="2381250" cy="3657600"/>
          </a:xfrm>
          <a:prstGeom prst="rect">
            <a:avLst/>
          </a:prstGeom>
          <a:solidFill>
            <a:srgbClr val="FFFFFF">
              <a:alpha val="90194"/>
            </a:srgbClr>
          </a:solidFill>
          <a:ln w="12700">
            <a:solidFill>
              <a:srgbClr val="FFFFFF"/>
            </a:solidFill>
          </a:ln>
        </p:spPr>
        <p:txBody>
          <a:bodyPr wrap="square" lIns="0" tIns="266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10"/>
              </a:spcBef>
            </a:pPr>
            <a:endParaRPr sz="900">
              <a:latin typeface="Times New Roman"/>
              <a:cs typeface="Times New Roman"/>
            </a:endParaRPr>
          </a:p>
          <a:p>
            <a:pPr marL="95250">
              <a:lnSpc>
                <a:spcPct val="100000"/>
              </a:lnSpc>
            </a:pPr>
            <a:r>
              <a:rPr dirty="0" sz="900" spc="-10" b="1">
                <a:solidFill>
                  <a:srgbClr val="7B2C6B"/>
                </a:solidFill>
                <a:latin typeface="Calibri"/>
                <a:cs typeface="Calibri"/>
              </a:rPr>
              <a:t>Student</a:t>
            </a:r>
            <a:endParaRPr sz="900">
              <a:latin typeface="Calibri"/>
              <a:cs typeface="Calibri"/>
            </a:endParaRPr>
          </a:p>
          <a:p>
            <a:pPr marL="95250" marR="1416685">
              <a:lnSpc>
                <a:spcPts val="1280"/>
              </a:lnSpc>
              <a:spcBef>
                <a:spcPts val="260"/>
              </a:spcBef>
            </a:pP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Syed</a:t>
            </a:r>
            <a:r>
              <a:rPr dirty="0" sz="1100" spc="-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Mubashir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Ahmed</a:t>
            </a:r>
            <a:r>
              <a:rPr dirty="0" sz="1100" spc="-4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Hashmi</a:t>
            </a:r>
            <a:endParaRPr sz="1100">
              <a:latin typeface="Calibri"/>
              <a:cs typeface="Calibri"/>
            </a:endParaRPr>
          </a:p>
          <a:p>
            <a:pPr marL="95250">
              <a:lnSpc>
                <a:spcPct val="100000"/>
              </a:lnSpc>
              <a:spcBef>
                <a:spcPts val="1150"/>
              </a:spcBef>
            </a:pPr>
            <a:r>
              <a:rPr dirty="0" sz="900" spc="-25" b="1">
                <a:solidFill>
                  <a:srgbClr val="7B2C6B"/>
                </a:solidFill>
                <a:latin typeface="Calibri"/>
                <a:cs typeface="Calibri"/>
              </a:rPr>
              <a:t>ID</a:t>
            </a:r>
            <a:endParaRPr sz="900">
              <a:latin typeface="Calibri"/>
              <a:cs typeface="Calibri"/>
            </a:endParaRPr>
          </a:p>
          <a:p>
            <a:pPr marL="95250">
              <a:lnSpc>
                <a:spcPct val="100000"/>
              </a:lnSpc>
              <a:spcBef>
                <a:spcPts val="844"/>
              </a:spcBef>
            </a:pP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20089221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100">
              <a:latin typeface="Calibri"/>
              <a:cs typeface="Calibri"/>
            </a:endParaRPr>
          </a:p>
          <a:p>
            <a:pPr marL="95250">
              <a:lnSpc>
                <a:spcPct val="100000"/>
              </a:lnSpc>
              <a:spcBef>
                <a:spcPts val="5"/>
              </a:spcBef>
            </a:pPr>
            <a:r>
              <a:rPr dirty="0" sz="900" spc="-10" b="1">
                <a:solidFill>
                  <a:srgbClr val="7B2C6B"/>
                </a:solidFill>
                <a:latin typeface="Calibri"/>
                <a:cs typeface="Calibri"/>
              </a:rPr>
              <a:t>Module</a:t>
            </a:r>
            <a:endParaRPr sz="900">
              <a:latin typeface="Calibri"/>
              <a:cs typeface="Calibri"/>
            </a:endParaRPr>
          </a:p>
          <a:p>
            <a:pPr marL="95250">
              <a:lnSpc>
                <a:spcPct val="100000"/>
              </a:lnSpc>
              <a:spcBef>
                <a:spcPts val="845"/>
              </a:spcBef>
            </a:pP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B9IS123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100">
              <a:latin typeface="Calibri"/>
              <a:cs typeface="Calibri"/>
            </a:endParaRPr>
          </a:p>
          <a:p>
            <a:pPr marL="95250">
              <a:lnSpc>
                <a:spcPct val="100000"/>
              </a:lnSpc>
            </a:pPr>
            <a:r>
              <a:rPr dirty="0" sz="900" spc="-10" b="1">
                <a:solidFill>
                  <a:srgbClr val="7B2C6B"/>
                </a:solidFill>
                <a:latin typeface="Calibri"/>
                <a:cs typeface="Calibri"/>
              </a:rPr>
              <a:t>Lecturer</a:t>
            </a:r>
            <a:endParaRPr sz="900">
              <a:latin typeface="Calibri"/>
              <a:cs typeface="Calibri"/>
            </a:endParaRPr>
          </a:p>
          <a:p>
            <a:pPr marL="95250">
              <a:lnSpc>
                <a:spcPct val="100000"/>
              </a:lnSpc>
              <a:spcBef>
                <a:spcPts val="845"/>
              </a:spcBef>
            </a:pP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Paul</a:t>
            </a:r>
            <a:r>
              <a:rPr dirty="0" sz="1100" spc="-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Laird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100">
              <a:latin typeface="Calibri"/>
              <a:cs typeface="Calibri"/>
            </a:endParaRPr>
          </a:p>
          <a:p>
            <a:pPr marL="95250">
              <a:lnSpc>
                <a:spcPct val="100000"/>
              </a:lnSpc>
            </a:pPr>
            <a:r>
              <a:rPr dirty="0" sz="900" spc="-20" b="1">
                <a:solidFill>
                  <a:srgbClr val="7B2C6B"/>
                </a:solidFill>
                <a:latin typeface="Calibri"/>
                <a:cs typeface="Calibri"/>
              </a:rPr>
              <a:t>Date</a:t>
            </a:r>
            <a:endParaRPr sz="900">
              <a:latin typeface="Calibri"/>
              <a:cs typeface="Calibri"/>
            </a:endParaRPr>
          </a:p>
          <a:p>
            <a:pPr marL="95250">
              <a:lnSpc>
                <a:spcPct val="100000"/>
              </a:lnSpc>
              <a:spcBef>
                <a:spcPts val="844"/>
              </a:spcBef>
            </a:pP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12</a:t>
            </a:r>
            <a:r>
              <a:rPr dirty="0" sz="1100" spc="-5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April</a:t>
            </a:r>
            <a:r>
              <a:rPr dirty="0" sz="1100" spc="5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2C2C2C"/>
                </a:solidFill>
                <a:latin typeface="Calibri"/>
                <a:cs typeface="Calibri"/>
              </a:rPr>
              <a:t>2026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1962" y="2843276"/>
            <a:ext cx="5943600" cy="495300"/>
          </a:xfrm>
          <a:prstGeom prst="rect">
            <a:avLst/>
          </a:prstGeom>
          <a:solidFill>
            <a:srgbClr val="FFFFFF">
              <a:alpha val="85096"/>
            </a:srgbClr>
          </a:solidFill>
          <a:ln w="12700">
            <a:solidFill>
              <a:srgbClr val="FFFFFF"/>
            </a:solidFill>
          </a:ln>
        </p:spPr>
        <p:txBody>
          <a:bodyPr wrap="square" lIns="0" tIns="1473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60"/>
              </a:spcBef>
            </a:pPr>
            <a:r>
              <a:rPr dirty="0" sz="1200" b="1">
                <a:solidFill>
                  <a:srgbClr val="7B2C6B"/>
                </a:solidFill>
                <a:latin typeface="Calibri"/>
                <a:cs typeface="Calibri"/>
              </a:rPr>
              <a:t>Live</a:t>
            </a:r>
            <a:r>
              <a:rPr dirty="0" sz="1200" spc="25" b="1">
                <a:solidFill>
                  <a:srgbClr val="7B2C6B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7B2C6B"/>
                </a:solidFill>
                <a:latin typeface="Calibri"/>
                <a:cs typeface="Calibri"/>
              </a:rPr>
              <a:t>Demo:</a:t>
            </a:r>
            <a:r>
              <a:rPr dirty="0" sz="1200" spc="-30" b="1">
                <a:solidFill>
                  <a:srgbClr val="7B2C6B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7B2C6B"/>
                </a:solidFill>
                <a:latin typeface="Calibri"/>
                <a:cs typeface="Calibri"/>
                <a:hlinkClick r:id="rId4"/>
              </a:rPr>
              <a:t>https://masarratcare-v5nk.onrender.com/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14325" y="3438525"/>
            <a:ext cx="1329055" cy="871855"/>
            <a:chOff x="314325" y="3438525"/>
            <a:chExt cx="1329055" cy="871855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4325" y="3438525"/>
              <a:ext cx="1328674" cy="87153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61962" y="3529012"/>
              <a:ext cx="1095375" cy="638175"/>
            </a:xfrm>
            <a:custGeom>
              <a:avLst/>
              <a:gdLst/>
              <a:ahLst/>
              <a:cxnLst/>
              <a:rect l="l" t="t" r="r" b="b"/>
              <a:pathLst>
                <a:path w="1095375" h="638175">
                  <a:moveTo>
                    <a:pt x="1095375" y="0"/>
                  </a:moveTo>
                  <a:lnTo>
                    <a:pt x="0" y="0"/>
                  </a:lnTo>
                  <a:lnTo>
                    <a:pt x="0" y="638175"/>
                  </a:lnTo>
                  <a:lnTo>
                    <a:pt x="1095375" y="638175"/>
                  </a:lnTo>
                  <a:lnTo>
                    <a:pt x="1095375" y="0"/>
                  </a:lnTo>
                  <a:close/>
                </a:path>
              </a:pathLst>
            </a:custGeom>
            <a:solidFill>
              <a:srgbClr val="B546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61962" y="3529012"/>
              <a:ext cx="1095375" cy="638175"/>
            </a:xfrm>
            <a:custGeom>
              <a:avLst/>
              <a:gdLst/>
              <a:ahLst/>
              <a:cxnLst/>
              <a:rect l="l" t="t" r="r" b="b"/>
              <a:pathLst>
                <a:path w="1095375" h="638175">
                  <a:moveTo>
                    <a:pt x="0" y="638175"/>
                  </a:moveTo>
                  <a:lnTo>
                    <a:pt x="1095375" y="638175"/>
                  </a:lnTo>
                  <a:lnTo>
                    <a:pt x="1095375" y="0"/>
                  </a:lnTo>
                  <a:lnTo>
                    <a:pt x="0" y="0"/>
                  </a:lnTo>
                  <a:lnTo>
                    <a:pt x="0" y="638175"/>
                  </a:lnTo>
                  <a:close/>
                </a:path>
              </a:pathLst>
            </a:custGeom>
            <a:ln w="12700">
              <a:solidFill>
                <a:srgbClr val="B546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777240" y="3749357"/>
            <a:ext cx="45593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r>
              <a:rPr dirty="0" sz="950" spc="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504950" y="3438525"/>
            <a:ext cx="1329055" cy="871855"/>
            <a:chOff x="1504950" y="3438525"/>
            <a:chExt cx="1329055" cy="871855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04950" y="3438525"/>
              <a:ext cx="1328674" cy="87153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652651" y="3529012"/>
              <a:ext cx="1095375" cy="638175"/>
            </a:xfrm>
            <a:custGeom>
              <a:avLst/>
              <a:gdLst/>
              <a:ahLst/>
              <a:cxnLst/>
              <a:rect l="l" t="t" r="r" b="b"/>
              <a:pathLst>
                <a:path w="1095375" h="638175">
                  <a:moveTo>
                    <a:pt x="1095375" y="0"/>
                  </a:moveTo>
                  <a:lnTo>
                    <a:pt x="0" y="0"/>
                  </a:lnTo>
                  <a:lnTo>
                    <a:pt x="0" y="638175"/>
                  </a:lnTo>
                  <a:lnTo>
                    <a:pt x="1095375" y="638175"/>
                  </a:lnTo>
                  <a:lnTo>
                    <a:pt x="1095375" y="0"/>
                  </a:lnTo>
                  <a:close/>
                </a:path>
              </a:pathLst>
            </a:custGeom>
            <a:solidFill>
              <a:srgbClr val="B546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652651" y="3529012"/>
              <a:ext cx="1095375" cy="638175"/>
            </a:xfrm>
            <a:custGeom>
              <a:avLst/>
              <a:gdLst/>
              <a:ahLst/>
              <a:cxnLst/>
              <a:rect l="l" t="t" r="r" b="b"/>
              <a:pathLst>
                <a:path w="1095375" h="638175">
                  <a:moveTo>
                    <a:pt x="0" y="638175"/>
                  </a:moveTo>
                  <a:lnTo>
                    <a:pt x="1095375" y="638175"/>
                  </a:lnTo>
                  <a:lnTo>
                    <a:pt x="1095375" y="0"/>
                  </a:lnTo>
                  <a:lnTo>
                    <a:pt x="0" y="0"/>
                  </a:lnTo>
                  <a:lnTo>
                    <a:pt x="0" y="638175"/>
                  </a:lnTo>
                  <a:close/>
                </a:path>
              </a:pathLst>
            </a:custGeom>
            <a:ln w="12700">
              <a:solidFill>
                <a:srgbClr val="B546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1817751" y="3749357"/>
            <a:ext cx="76327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21</a:t>
            </a:r>
            <a:r>
              <a:rPr dirty="0" sz="950" spc="9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r>
              <a:rPr dirty="0" sz="95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Routes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695575" y="3438525"/>
            <a:ext cx="1329055" cy="871855"/>
            <a:chOff x="2695575" y="3438525"/>
            <a:chExt cx="1329055" cy="871855"/>
          </a:xfrm>
        </p:grpSpPr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95575" y="3438525"/>
              <a:ext cx="1328674" cy="871537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843276" y="3529012"/>
              <a:ext cx="1095375" cy="638175"/>
            </a:xfrm>
            <a:custGeom>
              <a:avLst/>
              <a:gdLst/>
              <a:ahLst/>
              <a:cxnLst/>
              <a:rect l="l" t="t" r="r" b="b"/>
              <a:pathLst>
                <a:path w="1095375" h="638175">
                  <a:moveTo>
                    <a:pt x="1095375" y="0"/>
                  </a:moveTo>
                  <a:lnTo>
                    <a:pt x="0" y="0"/>
                  </a:lnTo>
                  <a:lnTo>
                    <a:pt x="0" y="638175"/>
                  </a:lnTo>
                  <a:lnTo>
                    <a:pt x="1095375" y="638175"/>
                  </a:lnTo>
                  <a:lnTo>
                    <a:pt x="1095375" y="0"/>
                  </a:lnTo>
                  <a:close/>
                </a:path>
              </a:pathLst>
            </a:custGeom>
            <a:solidFill>
              <a:srgbClr val="B546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843276" y="3529012"/>
              <a:ext cx="1095375" cy="638175"/>
            </a:xfrm>
            <a:custGeom>
              <a:avLst/>
              <a:gdLst/>
              <a:ahLst/>
              <a:cxnLst/>
              <a:rect l="l" t="t" r="r" b="b"/>
              <a:pathLst>
                <a:path w="1095375" h="638175">
                  <a:moveTo>
                    <a:pt x="0" y="638175"/>
                  </a:moveTo>
                  <a:lnTo>
                    <a:pt x="1095375" y="638175"/>
                  </a:lnTo>
                  <a:lnTo>
                    <a:pt x="1095375" y="0"/>
                  </a:lnTo>
                  <a:lnTo>
                    <a:pt x="0" y="0"/>
                  </a:lnTo>
                  <a:lnTo>
                    <a:pt x="0" y="638175"/>
                  </a:lnTo>
                  <a:close/>
                </a:path>
              </a:pathLst>
            </a:custGeom>
            <a:ln w="12700">
              <a:solidFill>
                <a:srgbClr val="B546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3099180" y="3749357"/>
            <a:ext cx="56959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dirty="0" sz="950" spc="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Ext.</a:t>
            </a:r>
            <a:r>
              <a:rPr dirty="0" sz="950" spc="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APIs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876675" y="3438525"/>
            <a:ext cx="1338580" cy="871855"/>
            <a:chOff x="3876675" y="3438525"/>
            <a:chExt cx="1338580" cy="871855"/>
          </a:xfrm>
        </p:grpSpPr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76675" y="3438525"/>
              <a:ext cx="1338199" cy="87153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024376" y="3529012"/>
              <a:ext cx="1104900" cy="638175"/>
            </a:xfrm>
            <a:custGeom>
              <a:avLst/>
              <a:gdLst/>
              <a:ahLst/>
              <a:cxnLst/>
              <a:rect l="l" t="t" r="r" b="b"/>
              <a:pathLst>
                <a:path w="1104900" h="638175">
                  <a:moveTo>
                    <a:pt x="1104900" y="0"/>
                  </a:moveTo>
                  <a:lnTo>
                    <a:pt x="0" y="0"/>
                  </a:lnTo>
                  <a:lnTo>
                    <a:pt x="0" y="638175"/>
                  </a:lnTo>
                  <a:lnTo>
                    <a:pt x="1104900" y="638175"/>
                  </a:lnTo>
                  <a:lnTo>
                    <a:pt x="1104900" y="0"/>
                  </a:lnTo>
                  <a:close/>
                </a:path>
              </a:pathLst>
            </a:custGeom>
            <a:solidFill>
              <a:srgbClr val="B546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024376" y="3529012"/>
              <a:ext cx="1104900" cy="638175"/>
            </a:xfrm>
            <a:custGeom>
              <a:avLst/>
              <a:gdLst/>
              <a:ahLst/>
              <a:cxnLst/>
              <a:rect l="l" t="t" r="r" b="b"/>
              <a:pathLst>
                <a:path w="1104900" h="638175">
                  <a:moveTo>
                    <a:pt x="0" y="638175"/>
                  </a:moveTo>
                  <a:lnTo>
                    <a:pt x="1104900" y="638175"/>
                  </a:lnTo>
                  <a:lnTo>
                    <a:pt x="1104900" y="0"/>
                  </a:lnTo>
                  <a:lnTo>
                    <a:pt x="0" y="0"/>
                  </a:lnTo>
                  <a:lnTo>
                    <a:pt x="0" y="638175"/>
                  </a:lnTo>
                  <a:close/>
                </a:path>
              </a:pathLst>
            </a:custGeom>
            <a:ln w="12700">
              <a:solidFill>
                <a:srgbClr val="B546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4347845" y="3749357"/>
            <a:ext cx="455295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18</a:t>
            </a:r>
            <a:r>
              <a:rPr dirty="0" sz="950" spc="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Tests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067300" y="3438525"/>
            <a:ext cx="1329055" cy="871855"/>
            <a:chOff x="5067300" y="3438525"/>
            <a:chExt cx="1329055" cy="871855"/>
          </a:xfrm>
        </p:grpSpPr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67300" y="3438525"/>
              <a:ext cx="1328674" cy="871537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5215001" y="3529012"/>
              <a:ext cx="1095375" cy="638175"/>
            </a:xfrm>
            <a:custGeom>
              <a:avLst/>
              <a:gdLst/>
              <a:ahLst/>
              <a:cxnLst/>
              <a:rect l="l" t="t" r="r" b="b"/>
              <a:pathLst>
                <a:path w="1095375" h="638175">
                  <a:moveTo>
                    <a:pt x="1095375" y="0"/>
                  </a:moveTo>
                  <a:lnTo>
                    <a:pt x="0" y="0"/>
                  </a:lnTo>
                  <a:lnTo>
                    <a:pt x="0" y="638175"/>
                  </a:lnTo>
                  <a:lnTo>
                    <a:pt x="1095375" y="638175"/>
                  </a:lnTo>
                  <a:lnTo>
                    <a:pt x="1095375" y="0"/>
                  </a:lnTo>
                  <a:close/>
                </a:path>
              </a:pathLst>
            </a:custGeom>
            <a:solidFill>
              <a:srgbClr val="B546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5215001" y="3529012"/>
              <a:ext cx="1095375" cy="638175"/>
            </a:xfrm>
            <a:custGeom>
              <a:avLst/>
              <a:gdLst/>
              <a:ahLst/>
              <a:cxnLst/>
              <a:rect l="l" t="t" r="r" b="b"/>
              <a:pathLst>
                <a:path w="1095375" h="638175">
                  <a:moveTo>
                    <a:pt x="0" y="638175"/>
                  </a:moveTo>
                  <a:lnTo>
                    <a:pt x="1095375" y="638175"/>
                  </a:lnTo>
                  <a:lnTo>
                    <a:pt x="1095375" y="0"/>
                  </a:lnTo>
                  <a:lnTo>
                    <a:pt x="0" y="0"/>
                  </a:lnTo>
                  <a:lnTo>
                    <a:pt x="0" y="638175"/>
                  </a:lnTo>
                  <a:close/>
                </a:path>
              </a:pathLst>
            </a:custGeom>
            <a:ln w="12700">
              <a:solidFill>
                <a:srgbClr val="B546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5502021" y="3749357"/>
            <a:ext cx="53213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Deployed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72485" y="4832984"/>
            <a:ext cx="3405504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F8D4EB"/>
                </a:solidFill>
                <a:latin typeface="Calibri"/>
                <a:cs typeface="Calibri"/>
              </a:rPr>
              <a:t>Dublin</a:t>
            </a:r>
            <a:r>
              <a:rPr dirty="0" sz="900" spc="-15" i="1">
                <a:solidFill>
                  <a:srgbClr val="F8D4EB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8D4EB"/>
                </a:solidFill>
                <a:latin typeface="Calibri"/>
                <a:cs typeface="Calibri"/>
              </a:rPr>
              <a:t>Business</a:t>
            </a:r>
            <a:r>
              <a:rPr dirty="0" sz="900" spc="-45" i="1">
                <a:solidFill>
                  <a:srgbClr val="F8D4EB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8D4EB"/>
                </a:solidFill>
                <a:latin typeface="Calibri"/>
                <a:cs typeface="Calibri"/>
              </a:rPr>
              <a:t>School</a:t>
            </a:r>
            <a:r>
              <a:rPr dirty="0" sz="900" spc="25" i="1">
                <a:solidFill>
                  <a:srgbClr val="F8D4EB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8D4EB"/>
                </a:solidFill>
                <a:latin typeface="Calibri"/>
                <a:cs typeface="Calibri"/>
              </a:rPr>
              <a:t>|</a:t>
            </a:r>
            <a:r>
              <a:rPr dirty="0" sz="900" spc="-25" i="1">
                <a:solidFill>
                  <a:srgbClr val="F8D4EB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F8D4EB"/>
                </a:solidFill>
                <a:latin typeface="Calibri"/>
                <a:cs typeface="Calibri"/>
              </a:rPr>
              <a:t>MSc</a:t>
            </a:r>
            <a:r>
              <a:rPr dirty="0" sz="900" spc="-55" i="1">
                <a:solidFill>
                  <a:srgbClr val="F8D4EB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8D4EB"/>
                </a:solidFill>
                <a:latin typeface="Calibri"/>
                <a:cs typeface="Calibri"/>
              </a:rPr>
              <a:t>Information</a:t>
            </a:r>
            <a:r>
              <a:rPr dirty="0" sz="900" spc="-5" i="1">
                <a:solidFill>
                  <a:srgbClr val="F8D4EB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8D4EB"/>
                </a:solidFill>
                <a:latin typeface="Calibri"/>
                <a:cs typeface="Calibri"/>
              </a:rPr>
              <a:t>Systems</a:t>
            </a:r>
            <a:r>
              <a:rPr dirty="0" sz="900" spc="-40" i="1">
                <a:solidFill>
                  <a:srgbClr val="F8D4EB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8D4EB"/>
                </a:solidFill>
                <a:latin typeface="Calibri"/>
                <a:cs typeface="Calibri"/>
              </a:rPr>
              <a:t>with</a:t>
            </a:r>
            <a:r>
              <a:rPr dirty="0" sz="900" spc="-10" i="1">
                <a:solidFill>
                  <a:srgbClr val="F8D4EB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8D4EB"/>
                </a:solidFill>
                <a:latin typeface="Calibri"/>
                <a:cs typeface="Calibri"/>
              </a:rPr>
              <a:t>Computing</a:t>
            </a:r>
            <a:r>
              <a:rPr dirty="0" sz="900" spc="-70" i="1">
                <a:solidFill>
                  <a:srgbClr val="F8D4EB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8D4EB"/>
                </a:solidFill>
                <a:latin typeface="Calibri"/>
                <a:cs typeface="Calibri"/>
              </a:rPr>
              <a:t>|</a:t>
            </a:r>
            <a:r>
              <a:rPr dirty="0" sz="900" spc="40" i="1">
                <a:solidFill>
                  <a:srgbClr val="F8D4EB"/>
                </a:solidFill>
                <a:latin typeface="Calibri"/>
                <a:cs typeface="Calibri"/>
              </a:rPr>
              <a:t> </a:t>
            </a:r>
            <a:r>
              <a:rPr dirty="0" sz="900" spc="-25" i="1">
                <a:solidFill>
                  <a:srgbClr val="F8D4EB"/>
                </a:solidFill>
                <a:latin typeface="Calibri"/>
                <a:cs typeface="Calibri"/>
              </a:rPr>
              <a:t>CA2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6172" sz="5400" spc="-44">
                <a:solidFill>
                  <a:srgbClr val="B54689"/>
                </a:solidFill>
              </a:rPr>
              <a:t>01</a:t>
            </a:r>
            <a:r>
              <a:rPr dirty="0" baseline="-6172" sz="5400" spc="-480">
                <a:solidFill>
                  <a:srgbClr val="B54689"/>
                </a:solidFill>
              </a:rPr>
              <a:t> </a:t>
            </a:r>
            <a:r>
              <a:rPr dirty="0" sz="2400"/>
              <a:t>Organisation</a:t>
            </a:r>
            <a:r>
              <a:rPr dirty="0" sz="2400" spc="-114"/>
              <a:t> </a:t>
            </a:r>
            <a:r>
              <a:rPr dirty="0" sz="2400"/>
              <a:t>&amp;</a:t>
            </a:r>
            <a:r>
              <a:rPr dirty="0" sz="2400" spc="15"/>
              <a:t> </a:t>
            </a:r>
            <a:r>
              <a:rPr dirty="0" sz="2400"/>
              <a:t>Problem</a:t>
            </a:r>
            <a:r>
              <a:rPr dirty="0" sz="2400" spc="-45"/>
              <a:t> </a:t>
            </a:r>
            <a:r>
              <a:rPr dirty="0" sz="2400" spc="-10"/>
              <a:t>Statement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133350" y="961961"/>
            <a:ext cx="4253230" cy="3710304"/>
            <a:chOff x="133350" y="961961"/>
            <a:chExt cx="4253230" cy="371030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350" y="961961"/>
              <a:ext cx="4252976" cy="371005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80987" y="1471676"/>
              <a:ext cx="4019550" cy="3057525"/>
            </a:xfrm>
            <a:custGeom>
              <a:avLst/>
              <a:gdLst/>
              <a:ahLst/>
              <a:cxnLst/>
              <a:rect l="l" t="t" r="r" b="b"/>
              <a:pathLst>
                <a:path w="4019550" h="3057525">
                  <a:moveTo>
                    <a:pt x="0" y="3057461"/>
                  </a:moveTo>
                  <a:lnTo>
                    <a:pt x="4019550" y="3057461"/>
                  </a:lnTo>
                  <a:lnTo>
                    <a:pt x="4019550" y="0"/>
                  </a:lnTo>
                  <a:lnTo>
                    <a:pt x="0" y="0"/>
                  </a:lnTo>
                  <a:lnTo>
                    <a:pt x="0" y="30574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80987" y="1052512"/>
              <a:ext cx="4019550" cy="3476625"/>
            </a:xfrm>
            <a:custGeom>
              <a:avLst/>
              <a:gdLst/>
              <a:ahLst/>
              <a:cxnLst/>
              <a:rect l="l" t="t" r="r" b="b"/>
              <a:pathLst>
                <a:path w="4019550" h="3476625">
                  <a:moveTo>
                    <a:pt x="0" y="3476625"/>
                  </a:moveTo>
                  <a:lnTo>
                    <a:pt x="4019550" y="3476625"/>
                  </a:lnTo>
                  <a:lnTo>
                    <a:pt x="4019550" y="0"/>
                  </a:lnTo>
                  <a:lnTo>
                    <a:pt x="0" y="0"/>
                  </a:lnTo>
                  <a:lnTo>
                    <a:pt x="0" y="3476625"/>
                  </a:lnTo>
                  <a:close/>
                </a:path>
              </a:pathLst>
            </a:custGeom>
            <a:ln w="12700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280987" y="1052544"/>
            <a:ext cx="4019550" cy="419734"/>
          </a:xfrm>
          <a:prstGeom prst="rect">
            <a:avLst/>
          </a:prstGeom>
          <a:solidFill>
            <a:srgbClr val="B54689"/>
          </a:solidFill>
          <a:ln w="12700">
            <a:solidFill>
              <a:srgbClr val="B54689"/>
            </a:solidFill>
          </a:ln>
        </p:spPr>
        <p:txBody>
          <a:bodyPr wrap="square" lIns="0" tIns="101600" rIns="0" bIns="0" rtlCol="0" vert="horz">
            <a:spAutoFit/>
          </a:bodyPr>
          <a:lstStyle/>
          <a:p>
            <a:pPr marL="140970">
              <a:lnSpc>
                <a:spcPct val="100000"/>
              </a:lnSpc>
              <a:spcBef>
                <a:spcPts val="800"/>
              </a:spcBef>
            </a:pPr>
            <a:r>
              <a:rPr dirty="0" sz="1250" b="1">
                <a:solidFill>
                  <a:srgbClr val="FFFFFF"/>
                </a:solidFill>
                <a:latin typeface="Calibri"/>
                <a:cs typeface="Calibri"/>
              </a:rPr>
              <a:t>About</a:t>
            </a:r>
            <a:r>
              <a:rPr dirty="0" sz="1250" spc="9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250" spc="1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FFFFFF"/>
                </a:solidFill>
                <a:latin typeface="Calibri"/>
                <a:cs typeface="Calibri"/>
              </a:rPr>
              <a:t>Company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3555" y="1531937"/>
            <a:ext cx="3449320" cy="62928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342900" marR="184785" indent="-343535">
              <a:lnSpc>
                <a:spcPts val="1280"/>
              </a:lnSpc>
              <a:spcBef>
                <a:spcPts val="200"/>
              </a:spcBef>
              <a:buChar char="•"/>
              <a:tabLst>
                <a:tab pos="342900" algn="l"/>
              </a:tabLst>
            </a:pP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Masarrat</a:t>
            </a:r>
            <a:r>
              <a:rPr dirty="0" sz="1100" spc="-3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Misbah</a:t>
            </a:r>
            <a:r>
              <a:rPr dirty="0" sz="1100" spc="-2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Makeup</a:t>
            </a:r>
            <a:r>
              <a:rPr dirty="0" sz="1100" spc="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-</a:t>
            </a: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real</a:t>
            </a:r>
            <a:r>
              <a:rPr dirty="0" sz="1100" spc="-5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Pakistani</a:t>
            </a:r>
            <a:r>
              <a:rPr dirty="0" sz="1100" spc="1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cosmetics company</a:t>
            </a:r>
            <a:endParaRPr sz="110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42900" algn="l"/>
              </a:tabLst>
            </a:pP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Founded</a:t>
            </a:r>
            <a:r>
              <a:rPr dirty="0" sz="1100" spc="-2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by</a:t>
            </a: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renowned</a:t>
            </a:r>
            <a:r>
              <a:rPr dirty="0" sz="1100" spc="-2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makeup</a:t>
            </a:r>
            <a:r>
              <a:rPr dirty="0" sz="1100" spc="-2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artist</a:t>
            </a:r>
            <a:r>
              <a:rPr dirty="0" sz="1100" spc="-3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Masarrat</a:t>
            </a:r>
            <a:r>
              <a:rPr dirty="0" sz="1100" spc="-3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Misbah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3555" y="2312670"/>
            <a:ext cx="3405504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125"/>
              </a:spcBef>
              <a:buChar char="•"/>
              <a:tabLst>
                <a:tab pos="342900" algn="l"/>
              </a:tabLst>
            </a:pP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Sells</a:t>
            </a:r>
            <a:r>
              <a:rPr dirty="0" sz="1100" spc="-2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premium</a:t>
            </a:r>
            <a:r>
              <a:rPr dirty="0" sz="1100" spc="-3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halal-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certified</a:t>
            </a:r>
            <a:r>
              <a:rPr dirty="0" sz="1100" spc="-2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products</a:t>
            </a:r>
            <a:r>
              <a:rPr dirty="0" sz="1100" spc="-2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across</a:t>
            </a:r>
            <a:r>
              <a:rPr dirty="0" sz="1100" spc="-2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Pakistan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3555" y="2660332"/>
            <a:ext cx="255397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125"/>
              </a:spcBef>
              <a:buChar char="•"/>
              <a:tabLst>
                <a:tab pos="342900" algn="l"/>
              </a:tabLst>
            </a:pP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Operates</a:t>
            </a:r>
            <a:r>
              <a:rPr dirty="0" sz="1100" spc="-5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through</a:t>
            </a:r>
            <a:r>
              <a:rPr dirty="0" sz="1100" spc="-4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physical</a:t>
            </a:r>
            <a:r>
              <a:rPr dirty="0" sz="1100" spc="-1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retail</a:t>
            </a:r>
            <a:r>
              <a:rPr dirty="0" sz="1100" spc="-1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stores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3555" y="3008312"/>
            <a:ext cx="299910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125"/>
              </a:spcBef>
              <a:buChar char="•"/>
              <a:tabLst>
                <a:tab pos="342900" algn="l"/>
              </a:tabLst>
            </a:pP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Identifiable</a:t>
            </a:r>
            <a:r>
              <a:rPr dirty="0" sz="1100" spc="1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on</a:t>
            </a:r>
            <a:r>
              <a:rPr dirty="0" sz="1100" spc="-1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Google</a:t>
            </a:r>
            <a:r>
              <a:rPr dirty="0" sz="1100" spc="-6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Maps</a:t>
            </a:r>
            <a:r>
              <a:rPr dirty="0" sz="1100" spc="2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-</a:t>
            </a:r>
            <a:r>
              <a:rPr dirty="0" sz="1100" spc="-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Lahore,</a:t>
            </a: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 Pakistan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3555" y="3356673"/>
            <a:ext cx="249682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125"/>
              </a:spcBef>
              <a:buChar char="•"/>
              <a:tabLst>
                <a:tab pos="342900" algn="l"/>
              </a:tabLst>
            </a:pP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No</a:t>
            </a:r>
            <a:r>
              <a:rPr dirty="0" sz="1100" spc="-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digital</a:t>
            </a:r>
            <a:r>
              <a:rPr dirty="0" sz="1100" spc="-4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system</a:t>
            </a: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exists for</a:t>
            </a:r>
            <a:r>
              <a:rPr dirty="0" sz="1100" spc="5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customers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429125" y="961961"/>
            <a:ext cx="4529455" cy="3710304"/>
            <a:chOff x="4429125" y="961961"/>
            <a:chExt cx="4529455" cy="3710304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9125" y="961961"/>
              <a:ext cx="4529201" cy="371005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576826" y="1471676"/>
              <a:ext cx="4295775" cy="3057525"/>
            </a:xfrm>
            <a:custGeom>
              <a:avLst/>
              <a:gdLst/>
              <a:ahLst/>
              <a:cxnLst/>
              <a:rect l="l" t="t" r="r" b="b"/>
              <a:pathLst>
                <a:path w="4295775" h="3057525">
                  <a:moveTo>
                    <a:pt x="0" y="3057461"/>
                  </a:moveTo>
                  <a:lnTo>
                    <a:pt x="4295775" y="3057461"/>
                  </a:lnTo>
                  <a:lnTo>
                    <a:pt x="4295775" y="0"/>
                  </a:lnTo>
                  <a:lnTo>
                    <a:pt x="0" y="0"/>
                  </a:lnTo>
                  <a:lnTo>
                    <a:pt x="0" y="30574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576826" y="1052512"/>
              <a:ext cx="4295775" cy="3476625"/>
            </a:xfrm>
            <a:custGeom>
              <a:avLst/>
              <a:gdLst/>
              <a:ahLst/>
              <a:cxnLst/>
              <a:rect l="l" t="t" r="r" b="b"/>
              <a:pathLst>
                <a:path w="4295775" h="3476625">
                  <a:moveTo>
                    <a:pt x="0" y="3476625"/>
                  </a:moveTo>
                  <a:lnTo>
                    <a:pt x="4295775" y="3476625"/>
                  </a:lnTo>
                  <a:lnTo>
                    <a:pt x="4295775" y="0"/>
                  </a:lnTo>
                  <a:lnTo>
                    <a:pt x="0" y="0"/>
                  </a:lnTo>
                  <a:lnTo>
                    <a:pt x="0" y="3476625"/>
                  </a:lnTo>
                  <a:close/>
                </a:path>
              </a:pathLst>
            </a:custGeom>
            <a:ln w="12700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4576826" y="1052544"/>
            <a:ext cx="4295775" cy="419734"/>
          </a:xfrm>
          <a:prstGeom prst="rect">
            <a:avLst/>
          </a:prstGeom>
          <a:solidFill>
            <a:srgbClr val="7B2C6B"/>
          </a:solidFill>
          <a:ln w="12700">
            <a:solidFill>
              <a:srgbClr val="7B2C6B"/>
            </a:solidFill>
          </a:ln>
        </p:spPr>
        <p:txBody>
          <a:bodyPr wrap="square" lIns="0" tIns="101600" rIns="0" bIns="0" rtlCol="0" vert="horz">
            <a:spAutoFit/>
          </a:bodyPr>
          <a:lstStyle/>
          <a:p>
            <a:pPr marL="147320">
              <a:lnSpc>
                <a:spcPct val="100000"/>
              </a:lnSpc>
              <a:spcBef>
                <a:spcPts val="800"/>
              </a:spcBef>
            </a:pPr>
            <a:r>
              <a:rPr dirty="0" sz="1250" b="1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250" spc="10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59959" y="1616138"/>
            <a:ext cx="3369945" cy="19380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125"/>
              </a:spcBef>
              <a:buChar char="•"/>
              <a:tabLst>
                <a:tab pos="342900" algn="l"/>
              </a:tabLst>
            </a:pP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Customers</a:t>
            </a:r>
            <a:r>
              <a:rPr dirty="0" sz="1100" spc="-2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cannot</a:t>
            </a:r>
            <a:r>
              <a:rPr dirty="0" sz="1100" spc="-3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verify</a:t>
            </a: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genuine</a:t>
            </a:r>
            <a:r>
              <a:rPr dirty="0" sz="1100" spc="-6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vs</a:t>
            </a:r>
            <a:r>
              <a:rPr dirty="0" sz="1100" spc="-2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fake</a:t>
            </a:r>
            <a:r>
              <a:rPr dirty="0" sz="1100" spc="1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products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Clr>
                <a:srgbClr val="2C2C2C"/>
              </a:buClr>
              <a:buFont typeface="Calibri"/>
              <a:buChar char="•"/>
            </a:pPr>
            <a:endParaRPr sz="110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buChar char="•"/>
              <a:tabLst>
                <a:tab pos="342900" algn="l"/>
              </a:tabLst>
            </a:pP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Counterfeit</a:t>
            </a:r>
            <a:r>
              <a:rPr dirty="0" sz="1100" spc="4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cosmetics</a:t>
            </a:r>
            <a:r>
              <a:rPr dirty="0" sz="1100" spc="-2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are</a:t>
            </a:r>
            <a:r>
              <a:rPr dirty="0" sz="1100" spc="-6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widespread</a:t>
            </a:r>
            <a:r>
              <a:rPr dirty="0" sz="1100" spc="-2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in</a:t>
            </a:r>
            <a:r>
              <a:rPr dirty="0" sz="1100" spc="-2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Pakistan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2C2C2C"/>
              </a:buClr>
              <a:buFont typeface="Calibri"/>
              <a:buChar char="•"/>
            </a:pPr>
            <a:endParaRPr sz="110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buChar char="•"/>
              <a:tabLst>
                <a:tab pos="342900" algn="l"/>
              </a:tabLst>
            </a:pP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No</a:t>
            </a: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 shade</a:t>
            </a:r>
            <a:r>
              <a:rPr dirty="0" sz="1100" spc="-4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finder -</a:t>
            </a:r>
            <a:r>
              <a:rPr dirty="0" sz="1100" spc="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wrong</a:t>
            </a:r>
            <a:r>
              <a:rPr dirty="0" sz="1100" spc="-1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purchases </a:t>
            </a: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are</a:t>
            </a:r>
            <a:r>
              <a:rPr dirty="0" sz="1100" spc="-5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common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2C2C2C"/>
              </a:buClr>
              <a:buFont typeface="Calibri"/>
              <a:buChar char="•"/>
            </a:pPr>
            <a:endParaRPr sz="110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buChar char="•"/>
              <a:tabLst>
                <a:tab pos="342900" algn="l"/>
              </a:tabLst>
            </a:pP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No</a:t>
            </a:r>
            <a:r>
              <a:rPr dirty="0" sz="1100" spc="-1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platform</a:t>
            </a:r>
            <a:r>
              <a:rPr dirty="0" sz="1100" spc="-2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for</a:t>
            </a:r>
            <a:r>
              <a:rPr dirty="0" sz="1100" spc="-3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product</a:t>
            </a:r>
            <a:r>
              <a:rPr dirty="0" sz="1100" spc="5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reviews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Clr>
                <a:srgbClr val="2C2C2C"/>
              </a:buClr>
              <a:buFont typeface="Calibri"/>
              <a:buChar char="•"/>
            </a:pPr>
            <a:endParaRPr sz="110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buChar char="•"/>
              <a:tabLst>
                <a:tab pos="342900" algn="l"/>
              </a:tabLst>
            </a:pP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No </a:t>
            </a: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wishlist</a:t>
            </a:r>
            <a:r>
              <a:rPr dirty="0" sz="1100" spc="-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feature</a:t>
            </a:r>
            <a:r>
              <a:rPr dirty="0" sz="1100" spc="-4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for</a:t>
            </a:r>
            <a:r>
              <a:rPr dirty="0" sz="1100" spc="-2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saving</a:t>
            </a:r>
            <a:r>
              <a:rPr dirty="0" sz="1100" spc="7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products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2C2C2C"/>
              </a:buClr>
              <a:buFont typeface="Calibri"/>
              <a:buChar char="•"/>
            </a:pPr>
            <a:endParaRPr sz="110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buChar char="•"/>
              <a:tabLst>
                <a:tab pos="342900" algn="l"/>
              </a:tabLst>
            </a:pP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As</a:t>
            </a: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a</a:t>
            </a:r>
            <a:r>
              <a:rPr dirty="0" sz="1100" spc="-2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Pakistani</a:t>
            </a:r>
            <a:r>
              <a:rPr dirty="0" sz="1100" spc="-5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student</a:t>
            </a:r>
            <a:r>
              <a:rPr dirty="0" sz="1100" spc="-1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in</a:t>
            </a:r>
            <a:r>
              <a:rPr dirty="0" sz="1100" spc="-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Dublin</a:t>
            </a:r>
            <a:r>
              <a:rPr dirty="0" sz="1100" spc="-1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-</a:t>
            </a:r>
            <a:r>
              <a:rPr dirty="0" sz="1100" spc="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I</a:t>
            </a:r>
            <a:r>
              <a:rPr dirty="0" sz="1100" spc="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know</a:t>
            </a:r>
            <a:r>
              <a:rPr dirty="0" sz="1100" spc="1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this</a:t>
            </a: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 problem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-1586" y="4751387"/>
            <a:ext cx="9152255" cy="398780"/>
            <a:chOff x="-1586" y="4751387"/>
            <a:chExt cx="9152255" cy="398780"/>
          </a:xfrm>
        </p:grpSpPr>
        <p:sp>
          <p:nvSpPr>
            <p:cNvPr id="20" name="object 20"/>
            <p:cNvSpPr/>
            <p:nvPr/>
          </p:nvSpPr>
          <p:spPr>
            <a:xfrm>
              <a:off x="4763" y="4757737"/>
              <a:ext cx="9139555" cy="386080"/>
            </a:xfrm>
            <a:custGeom>
              <a:avLst/>
              <a:gdLst/>
              <a:ahLst/>
              <a:cxnLst/>
              <a:rect l="l" t="t" r="r" b="b"/>
              <a:pathLst>
                <a:path w="9139555" h="386079">
                  <a:moveTo>
                    <a:pt x="9139236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9139236" y="385762"/>
                  </a:lnTo>
                  <a:lnTo>
                    <a:pt x="9139236" y="0"/>
                  </a:lnTo>
                  <a:close/>
                </a:path>
              </a:pathLst>
            </a:custGeom>
            <a:solidFill>
              <a:srgbClr val="7B2C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763" y="4757737"/>
              <a:ext cx="9139555" cy="386080"/>
            </a:xfrm>
            <a:custGeom>
              <a:avLst/>
              <a:gdLst/>
              <a:ahLst/>
              <a:cxnLst/>
              <a:rect l="l" t="t" r="r" b="b"/>
              <a:pathLst>
                <a:path w="9139555" h="386079">
                  <a:moveTo>
                    <a:pt x="9139236" y="0"/>
                  </a:moveTo>
                  <a:lnTo>
                    <a:pt x="0" y="0"/>
                  </a:lnTo>
                  <a:lnTo>
                    <a:pt x="0" y="385762"/>
                  </a:lnTo>
                </a:path>
              </a:pathLst>
            </a:custGeom>
            <a:ln w="12700">
              <a:solidFill>
                <a:srgbClr val="7B2C6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pc="-10"/>
              <a:t>MasarratCare</a:t>
            </a:r>
            <a:r>
              <a:rPr dirty="0" spc="-50"/>
              <a:t> </a:t>
            </a:r>
            <a:r>
              <a:rPr dirty="0"/>
              <a:t>|</a:t>
            </a:r>
            <a:r>
              <a:rPr dirty="0" spc="-10"/>
              <a:t> </a:t>
            </a:r>
            <a:r>
              <a:rPr dirty="0"/>
              <a:t>Syed</a:t>
            </a:r>
            <a:r>
              <a:rPr dirty="0" spc="5"/>
              <a:t> </a:t>
            </a:r>
            <a:r>
              <a:rPr dirty="0"/>
              <a:t>Mubashir</a:t>
            </a:r>
            <a:r>
              <a:rPr dirty="0" spc="15"/>
              <a:t> </a:t>
            </a:r>
            <a:r>
              <a:rPr dirty="0"/>
              <a:t>Ahmed</a:t>
            </a:r>
            <a:r>
              <a:rPr dirty="0" spc="10"/>
              <a:t> </a:t>
            </a:r>
            <a:r>
              <a:rPr dirty="0" spc="-10"/>
              <a:t>Hashmi</a:t>
            </a:r>
            <a:r>
              <a:rPr dirty="0" spc="-35"/>
              <a:t> </a:t>
            </a:r>
            <a:r>
              <a:rPr dirty="0"/>
              <a:t>|</a:t>
            </a:r>
            <a:r>
              <a:rPr dirty="0" spc="-10"/>
              <a:t> 20089221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6172" sz="5400" spc="-44">
                <a:solidFill>
                  <a:srgbClr val="B54689"/>
                </a:solidFill>
              </a:rPr>
              <a:t>02</a:t>
            </a:r>
            <a:r>
              <a:rPr dirty="0" baseline="-6172" sz="5400" spc="-480">
                <a:solidFill>
                  <a:srgbClr val="B54689"/>
                </a:solidFill>
              </a:rPr>
              <a:t> </a:t>
            </a:r>
            <a:r>
              <a:rPr dirty="0" sz="2400"/>
              <a:t>System</a:t>
            </a:r>
            <a:r>
              <a:rPr dirty="0" sz="2400" spc="-35"/>
              <a:t> </a:t>
            </a:r>
            <a:r>
              <a:rPr dirty="0" sz="2400"/>
              <a:t>Overview</a:t>
            </a:r>
            <a:r>
              <a:rPr dirty="0" sz="2400" spc="5"/>
              <a:t> </a:t>
            </a:r>
            <a:r>
              <a:rPr dirty="0" sz="2400"/>
              <a:t>&amp;</a:t>
            </a:r>
            <a:r>
              <a:rPr dirty="0" sz="2400" spc="-110"/>
              <a:t> </a:t>
            </a:r>
            <a:r>
              <a:rPr dirty="0" sz="2400" spc="-10"/>
              <a:t>Architecture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075" y="961961"/>
            <a:ext cx="2062226" cy="114776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0362" y="1046225"/>
            <a:ext cx="1841500" cy="927100"/>
          </a:xfrm>
          <a:prstGeom prst="rect">
            <a:avLst/>
          </a:prstGeom>
          <a:solidFill>
            <a:srgbClr val="B54689"/>
          </a:solidFill>
          <a:ln w="3175">
            <a:solidFill>
              <a:srgbClr val="B54689"/>
            </a:solidFill>
          </a:ln>
        </p:spPr>
        <p:txBody>
          <a:bodyPr wrap="square" lIns="0" tIns="781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15"/>
              </a:spcBef>
            </a:pPr>
            <a:endParaRPr sz="1250">
              <a:latin typeface="Times New Roman"/>
              <a:cs typeface="Times New Roman"/>
            </a:endParaRPr>
          </a:p>
          <a:p>
            <a:pPr marL="575310">
              <a:lnSpc>
                <a:spcPct val="100000"/>
              </a:lnSpc>
            </a:pPr>
            <a:r>
              <a:rPr dirty="0" sz="1250" b="1">
                <a:solidFill>
                  <a:srgbClr val="FFFFFF"/>
                </a:solidFill>
                <a:latin typeface="Calibri"/>
                <a:cs typeface="Calibri"/>
              </a:rPr>
              <a:t>HTML</a:t>
            </a:r>
            <a:r>
              <a:rPr dirty="0" sz="1250" spc="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dirty="0" sz="1250" spc="114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25" b="1">
                <a:solidFill>
                  <a:srgbClr val="FFFFFF"/>
                </a:solidFill>
                <a:latin typeface="Calibri"/>
                <a:cs typeface="Calibri"/>
              </a:rPr>
              <a:t>JS</a:t>
            </a:r>
            <a:endParaRPr sz="1250">
              <a:latin typeface="Calibri"/>
              <a:cs typeface="Calibri"/>
            </a:endParaRPr>
          </a:p>
          <a:p>
            <a:pPr marL="608330">
              <a:lnSpc>
                <a:spcPct val="100000"/>
              </a:lnSpc>
              <a:spcBef>
                <a:spcPts val="80"/>
              </a:spcBef>
            </a:pPr>
            <a:r>
              <a:rPr dirty="0" sz="1250" spc="-10" b="1">
                <a:solidFill>
                  <a:srgbClr val="FFFFFF"/>
                </a:solidFill>
                <a:latin typeface="Calibri"/>
                <a:cs typeface="Calibri"/>
              </a:rPr>
              <a:t>Frontend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63775" y="1311655"/>
            <a:ext cx="276225" cy="3581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150" spc="-50">
                <a:solidFill>
                  <a:srgbClr val="666666"/>
                </a:solidFill>
                <a:latin typeface="Calibri"/>
                <a:cs typeface="Calibri"/>
              </a:rPr>
              <a:t>→</a:t>
            </a:r>
            <a:endParaRPr sz="215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371725" y="961961"/>
            <a:ext cx="2062480" cy="1148080"/>
            <a:chOff x="2371725" y="961961"/>
            <a:chExt cx="2062480" cy="114808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1725" y="961961"/>
              <a:ext cx="2062226" cy="114776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519426" y="1052576"/>
              <a:ext cx="1828800" cy="914400"/>
            </a:xfrm>
            <a:custGeom>
              <a:avLst/>
              <a:gdLst/>
              <a:ahLst/>
              <a:cxnLst/>
              <a:rect l="l" t="t" r="r" b="b"/>
              <a:pathLst>
                <a:path w="1828800" h="914400">
                  <a:moveTo>
                    <a:pt x="18288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828800" y="91440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A854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519426" y="1052576"/>
              <a:ext cx="1828800" cy="914400"/>
            </a:xfrm>
            <a:custGeom>
              <a:avLst/>
              <a:gdLst/>
              <a:ahLst/>
              <a:cxnLst/>
              <a:rect l="l" t="t" r="r" b="b"/>
              <a:pathLst>
                <a:path w="1828800" h="914400">
                  <a:moveTo>
                    <a:pt x="0" y="914400"/>
                  </a:moveTo>
                  <a:lnTo>
                    <a:pt x="1828800" y="91440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A854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3126739" y="1290891"/>
            <a:ext cx="614045" cy="42100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 indent="69850">
              <a:lnSpc>
                <a:spcPct val="105200"/>
              </a:lnSpc>
              <a:spcBef>
                <a:spcPts val="50"/>
              </a:spcBef>
            </a:pPr>
            <a:r>
              <a:rPr dirty="0" sz="1250" spc="-10" b="1">
                <a:solidFill>
                  <a:srgbClr val="FFFFFF"/>
                </a:solidFill>
                <a:latin typeface="Calibri"/>
                <a:cs typeface="Calibri"/>
              </a:rPr>
              <a:t>fetch() </a:t>
            </a:r>
            <a:r>
              <a:rPr dirty="0" sz="1250" b="1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r>
              <a:rPr dirty="0" sz="1250" spc="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FFFFFF"/>
                </a:solidFill>
                <a:latin typeface="Calibri"/>
                <a:cs typeface="Calibri"/>
              </a:rPr>
              <a:t>Calls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14901" y="1311655"/>
            <a:ext cx="276225" cy="3581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150" spc="-50">
                <a:solidFill>
                  <a:srgbClr val="666666"/>
                </a:solidFill>
                <a:latin typeface="Calibri"/>
                <a:cs typeface="Calibri"/>
              </a:rPr>
              <a:t>→</a:t>
            </a:r>
            <a:endParaRPr sz="21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524375" y="961961"/>
            <a:ext cx="2062480" cy="1148080"/>
            <a:chOff x="4524375" y="961961"/>
            <a:chExt cx="2062480" cy="114808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24375" y="961961"/>
              <a:ext cx="2062226" cy="114776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672076" y="1052576"/>
              <a:ext cx="1828800" cy="914400"/>
            </a:xfrm>
            <a:custGeom>
              <a:avLst/>
              <a:gdLst/>
              <a:ahLst/>
              <a:cxnLst/>
              <a:rect l="l" t="t" r="r" b="b"/>
              <a:pathLst>
                <a:path w="1828800" h="914400">
                  <a:moveTo>
                    <a:pt x="18288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828800" y="91440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7B2C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672076" y="1052576"/>
              <a:ext cx="1828800" cy="914400"/>
            </a:xfrm>
            <a:custGeom>
              <a:avLst/>
              <a:gdLst/>
              <a:ahLst/>
              <a:cxnLst/>
              <a:rect l="l" t="t" r="r" b="b"/>
              <a:pathLst>
                <a:path w="1828800" h="914400">
                  <a:moveTo>
                    <a:pt x="0" y="914400"/>
                  </a:moveTo>
                  <a:lnTo>
                    <a:pt x="1828800" y="91440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7B2C6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281676" y="1290891"/>
            <a:ext cx="598170" cy="42100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 indent="117475">
              <a:lnSpc>
                <a:spcPct val="105200"/>
              </a:lnSpc>
              <a:spcBef>
                <a:spcPts val="50"/>
              </a:spcBef>
            </a:pPr>
            <a:r>
              <a:rPr dirty="0" sz="1250" spc="-10" b="1">
                <a:solidFill>
                  <a:srgbClr val="FFFFFF"/>
                </a:solidFill>
                <a:latin typeface="Calibri"/>
                <a:cs typeface="Calibri"/>
              </a:rPr>
              <a:t>Flask Backend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65900" y="1311655"/>
            <a:ext cx="276225" cy="3581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150" spc="-50">
                <a:solidFill>
                  <a:srgbClr val="666666"/>
                </a:solidFill>
                <a:latin typeface="Calibri"/>
                <a:cs typeface="Calibri"/>
              </a:rPr>
              <a:t>→</a:t>
            </a:r>
            <a:endParaRPr sz="21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667500" y="961961"/>
            <a:ext cx="2062480" cy="1148080"/>
            <a:chOff x="6667500" y="961961"/>
            <a:chExt cx="2062480" cy="114808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7500" y="961961"/>
              <a:ext cx="2062226" cy="114776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815201" y="1052576"/>
              <a:ext cx="1828800" cy="914400"/>
            </a:xfrm>
            <a:custGeom>
              <a:avLst/>
              <a:gdLst/>
              <a:ahLst/>
              <a:cxnLst/>
              <a:rect l="l" t="t" r="r" b="b"/>
              <a:pathLst>
                <a:path w="1828800" h="914400">
                  <a:moveTo>
                    <a:pt x="18288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828800" y="91440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0495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815201" y="1052576"/>
              <a:ext cx="1828800" cy="914400"/>
            </a:xfrm>
            <a:custGeom>
              <a:avLst/>
              <a:gdLst/>
              <a:ahLst/>
              <a:cxnLst/>
              <a:rect l="l" t="t" r="r" b="b"/>
              <a:pathLst>
                <a:path w="1828800" h="914400">
                  <a:moveTo>
                    <a:pt x="0" y="914400"/>
                  </a:moveTo>
                  <a:lnTo>
                    <a:pt x="1828800" y="91440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0495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7402576" y="1290891"/>
            <a:ext cx="659130" cy="42100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 indent="99060">
              <a:lnSpc>
                <a:spcPct val="105200"/>
              </a:lnSpc>
              <a:spcBef>
                <a:spcPts val="50"/>
              </a:spcBef>
            </a:pPr>
            <a:r>
              <a:rPr dirty="0" sz="1250" spc="-10" b="1">
                <a:solidFill>
                  <a:srgbClr val="FFFFFF"/>
                </a:solidFill>
                <a:latin typeface="Calibri"/>
                <a:cs typeface="Calibri"/>
              </a:rPr>
              <a:t>SQLite Database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33350" y="2104961"/>
            <a:ext cx="2148205" cy="2519680"/>
            <a:chOff x="133350" y="2104961"/>
            <a:chExt cx="2148205" cy="2519680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350" y="2104961"/>
              <a:ext cx="2147951" cy="251942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80987" y="2567050"/>
              <a:ext cx="1914525" cy="1914525"/>
            </a:xfrm>
            <a:custGeom>
              <a:avLst/>
              <a:gdLst/>
              <a:ahLst/>
              <a:cxnLst/>
              <a:rect l="l" t="t" r="r" b="b"/>
              <a:pathLst>
                <a:path w="1914525" h="1914525">
                  <a:moveTo>
                    <a:pt x="0" y="1914461"/>
                  </a:moveTo>
                  <a:lnTo>
                    <a:pt x="1914525" y="1914461"/>
                  </a:lnTo>
                  <a:lnTo>
                    <a:pt x="1914525" y="0"/>
                  </a:lnTo>
                  <a:lnTo>
                    <a:pt x="0" y="0"/>
                  </a:lnTo>
                  <a:lnTo>
                    <a:pt x="0" y="19144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80987" y="2195512"/>
              <a:ext cx="1914525" cy="2286000"/>
            </a:xfrm>
            <a:custGeom>
              <a:avLst/>
              <a:gdLst/>
              <a:ahLst/>
              <a:cxnLst/>
              <a:rect l="l" t="t" r="r" b="b"/>
              <a:pathLst>
                <a:path w="1914525" h="2286000">
                  <a:moveTo>
                    <a:pt x="0" y="2286000"/>
                  </a:moveTo>
                  <a:lnTo>
                    <a:pt x="1914525" y="2286000"/>
                  </a:lnTo>
                  <a:lnTo>
                    <a:pt x="1914525" y="0"/>
                  </a:lnTo>
                  <a:lnTo>
                    <a:pt x="0" y="0"/>
                  </a:lnTo>
                  <a:lnTo>
                    <a:pt x="0" y="2286000"/>
                  </a:lnTo>
                  <a:close/>
                </a:path>
              </a:pathLst>
            </a:custGeom>
            <a:ln w="12700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280987" y="2195544"/>
            <a:ext cx="1914525" cy="372110"/>
          </a:xfrm>
          <a:prstGeom prst="rect">
            <a:avLst/>
          </a:prstGeom>
          <a:solidFill>
            <a:srgbClr val="B54689"/>
          </a:solidFill>
          <a:ln w="12700">
            <a:solidFill>
              <a:srgbClr val="B54689"/>
            </a:solidFill>
          </a:ln>
        </p:spPr>
        <p:txBody>
          <a:bodyPr wrap="square" lIns="0" tIns="85090" rIns="0" bIns="0" rtlCol="0" vert="horz">
            <a:spAutoFit/>
          </a:bodyPr>
          <a:lstStyle/>
          <a:p>
            <a:pPr algn="ctr" marR="1270">
              <a:lnSpc>
                <a:spcPct val="100000"/>
              </a:lnSpc>
              <a:spcBef>
                <a:spcPts val="670"/>
              </a:spcBef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Backend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79792" y="2825051"/>
            <a:ext cx="72517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Python</a:t>
            </a:r>
            <a:r>
              <a:rPr dirty="0" sz="1100" spc="-6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Flask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53782" y="3328987"/>
            <a:ext cx="37973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SQLite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87107" y="3832859"/>
            <a:ext cx="51625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gunicorn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305050" y="2104961"/>
            <a:ext cx="2157730" cy="2519680"/>
            <a:chOff x="2305050" y="2104961"/>
            <a:chExt cx="2157730" cy="2519680"/>
          </a:xfrm>
        </p:grpSpPr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05050" y="2104961"/>
              <a:ext cx="2157476" cy="251942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452751" y="2567050"/>
              <a:ext cx="1924050" cy="1914525"/>
            </a:xfrm>
            <a:custGeom>
              <a:avLst/>
              <a:gdLst/>
              <a:ahLst/>
              <a:cxnLst/>
              <a:rect l="l" t="t" r="r" b="b"/>
              <a:pathLst>
                <a:path w="1924050" h="1914525">
                  <a:moveTo>
                    <a:pt x="0" y="1914461"/>
                  </a:moveTo>
                  <a:lnTo>
                    <a:pt x="1924050" y="1914461"/>
                  </a:lnTo>
                  <a:lnTo>
                    <a:pt x="1924050" y="0"/>
                  </a:lnTo>
                  <a:lnTo>
                    <a:pt x="0" y="0"/>
                  </a:lnTo>
                  <a:lnTo>
                    <a:pt x="0" y="19144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452751" y="2195512"/>
              <a:ext cx="1924050" cy="2286000"/>
            </a:xfrm>
            <a:custGeom>
              <a:avLst/>
              <a:gdLst/>
              <a:ahLst/>
              <a:cxnLst/>
              <a:rect l="l" t="t" r="r" b="b"/>
              <a:pathLst>
                <a:path w="1924050" h="2286000">
                  <a:moveTo>
                    <a:pt x="0" y="2286000"/>
                  </a:moveTo>
                  <a:lnTo>
                    <a:pt x="1924050" y="2286000"/>
                  </a:lnTo>
                  <a:lnTo>
                    <a:pt x="1924050" y="0"/>
                  </a:lnTo>
                  <a:lnTo>
                    <a:pt x="0" y="0"/>
                  </a:lnTo>
                  <a:lnTo>
                    <a:pt x="0" y="2286000"/>
                  </a:lnTo>
                  <a:close/>
                </a:path>
              </a:pathLst>
            </a:custGeom>
            <a:ln w="12700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2452751" y="2195544"/>
            <a:ext cx="1924050" cy="372110"/>
          </a:xfrm>
          <a:prstGeom prst="rect">
            <a:avLst/>
          </a:prstGeom>
          <a:solidFill>
            <a:srgbClr val="B54689"/>
          </a:solidFill>
          <a:ln w="12700">
            <a:solidFill>
              <a:srgbClr val="B54689"/>
            </a:solidFill>
          </a:ln>
        </p:spPr>
        <p:txBody>
          <a:bodyPr wrap="square" lIns="0" tIns="8509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Frontend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211576" y="2825051"/>
            <a:ext cx="42037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HTML5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986151" y="3328987"/>
            <a:ext cx="86868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CSS3</a:t>
            </a: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+ </a:t>
            </a: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Poppins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153791" y="3832859"/>
            <a:ext cx="53594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Vanilla</a:t>
            </a:r>
            <a:r>
              <a:rPr dirty="0" sz="1100" spc="-5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2C2C2C"/>
                </a:solidFill>
                <a:latin typeface="Calibri"/>
                <a:cs typeface="Calibri"/>
              </a:rPr>
              <a:t>JS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486275" y="2104961"/>
            <a:ext cx="2148205" cy="2519680"/>
            <a:chOff x="4486275" y="2104961"/>
            <a:chExt cx="2148205" cy="2519680"/>
          </a:xfrm>
        </p:grpSpPr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86275" y="2104961"/>
              <a:ext cx="2147951" cy="2519426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633976" y="2567050"/>
              <a:ext cx="1914525" cy="1914525"/>
            </a:xfrm>
            <a:custGeom>
              <a:avLst/>
              <a:gdLst/>
              <a:ahLst/>
              <a:cxnLst/>
              <a:rect l="l" t="t" r="r" b="b"/>
              <a:pathLst>
                <a:path w="1914525" h="1914525">
                  <a:moveTo>
                    <a:pt x="0" y="1914461"/>
                  </a:moveTo>
                  <a:lnTo>
                    <a:pt x="1914525" y="1914461"/>
                  </a:lnTo>
                  <a:lnTo>
                    <a:pt x="1914525" y="0"/>
                  </a:lnTo>
                  <a:lnTo>
                    <a:pt x="0" y="0"/>
                  </a:lnTo>
                  <a:lnTo>
                    <a:pt x="0" y="19144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633976" y="2195512"/>
              <a:ext cx="1914525" cy="2286000"/>
            </a:xfrm>
            <a:custGeom>
              <a:avLst/>
              <a:gdLst/>
              <a:ahLst/>
              <a:cxnLst/>
              <a:rect l="l" t="t" r="r" b="b"/>
              <a:pathLst>
                <a:path w="1914525" h="2286000">
                  <a:moveTo>
                    <a:pt x="0" y="2286000"/>
                  </a:moveTo>
                  <a:lnTo>
                    <a:pt x="1914525" y="2286000"/>
                  </a:lnTo>
                  <a:lnTo>
                    <a:pt x="1914525" y="0"/>
                  </a:lnTo>
                  <a:lnTo>
                    <a:pt x="0" y="0"/>
                  </a:lnTo>
                  <a:lnTo>
                    <a:pt x="0" y="2286000"/>
                  </a:lnTo>
                  <a:close/>
                </a:path>
              </a:pathLst>
            </a:custGeom>
            <a:ln w="12700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4633976" y="2195544"/>
            <a:ext cx="1914525" cy="372110"/>
          </a:xfrm>
          <a:prstGeom prst="rect">
            <a:avLst/>
          </a:prstGeom>
          <a:solidFill>
            <a:srgbClr val="B54689"/>
          </a:solidFill>
          <a:ln w="12700">
            <a:solidFill>
              <a:srgbClr val="B54689"/>
            </a:solidFill>
          </a:ln>
        </p:spPr>
        <p:txBody>
          <a:bodyPr wrap="square" lIns="0" tIns="8509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670"/>
              </a:spcBef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Testing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416296" y="2825051"/>
            <a:ext cx="36703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pytest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370195" y="3328987"/>
            <a:ext cx="46037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18</a:t>
            </a:r>
            <a:r>
              <a:rPr dirty="0" sz="1100" spc="-3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tests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091429" y="3832859"/>
            <a:ext cx="102108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Unit</a:t>
            </a:r>
            <a:r>
              <a:rPr dirty="0" sz="1100" spc="3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+</a:t>
            </a:r>
            <a:r>
              <a:rPr dirty="0" sz="1100" spc="-6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Integration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657975" y="2104961"/>
            <a:ext cx="2157730" cy="2519680"/>
            <a:chOff x="6657975" y="2104961"/>
            <a:chExt cx="2157730" cy="2519680"/>
          </a:xfrm>
        </p:grpSpPr>
        <p:pic>
          <p:nvPicPr>
            <p:cNvPr id="48" name="object 4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57975" y="2104961"/>
              <a:ext cx="2157476" cy="2519426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6805676" y="2567050"/>
              <a:ext cx="1924050" cy="1914525"/>
            </a:xfrm>
            <a:custGeom>
              <a:avLst/>
              <a:gdLst/>
              <a:ahLst/>
              <a:cxnLst/>
              <a:rect l="l" t="t" r="r" b="b"/>
              <a:pathLst>
                <a:path w="1924050" h="1914525">
                  <a:moveTo>
                    <a:pt x="0" y="1914461"/>
                  </a:moveTo>
                  <a:lnTo>
                    <a:pt x="1924050" y="1914461"/>
                  </a:lnTo>
                  <a:lnTo>
                    <a:pt x="1924050" y="0"/>
                  </a:lnTo>
                  <a:lnTo>
                    <a:pt x="0" y="0"/>
                  </a:lnTo>
                  <a:lnTo>
                    <a:pt x="0" y="19144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6805676" y="2195512"/>
              <a:ext cx="1924050" cy="2286000"/>
            </a:xfrm>
            <a:custGeom>
              <a:avLst/>
              <a:gdLst/>
              <a:ahLst/>
              <a:cxnLst/>
              <a:rect l="l" t="t" r="r" b="b"/>
              <a:pathLst>
                <a:path w="1924050" h="2286000">
                  <a:moveTo>
                    <a:pt x="0" y="2286000"/>
                  </a:moveTo>
                  <a:lnTo>
                    <a:pt x="1924050" y="2286000"/>
                  </a:lnTo>
                  <a:lnTo>
                    <a:pt x="1924050" y="0"/>
                  </a:lnTo>
                  <a:lnTo>
                    <a:pt x="0" y="0"/>
                  </a:lnTo>
                  <a:lnTo>
                    <a:pt x="0" y="2286000"/>
                  </a:lnTo>
                  <a:close/>
                </a:path>
              </a:pathLst>
            </a:custGeom>
            <a:ln w="12700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6805676" y="2195544"/>
            <a:ext cx="1924050" cy="372110"/>
          </a:xfrm>
          <a:prstGeom prst="rect">
            <a:avLst/>
          </a:prstGeom>
          <a:solidFill>
            <a:srgbClr val="B54689"/>
          </a:solidFill>
          <a:ln w="12700">
            <a:solidFill>
              <a:srgbClr val="B54689"/>
            </a:solidFill>
          </a:ln>
        </p:spPr>
        <p:txBody>
          <a:bodyPr wrap="square" lIns="0" tIns="85090" rIns="0" bIns="0" rtlCol="0" vert="horz">
            <a:spAutoFit/>
          </a:bodyPr>
          <a:lstStyle/>
          <a:p>
            <a:pPr algn="ctr" marL="8255">
              <a:lnSpc>
                <a:spcPct val="100000"/>
              </a:lnSpc>
              <a:spcBef>
                <a:spcPts val="670"/>
              </a:spcBef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Deployed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426325" y="2825051"/>
            <a:ext cx="71056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Render.com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370064" y="3328987"/>
            <a:ext cx="81788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2C2C2C"/>
                </a:solidFill>
                <a:latin typeface="Calibri"/>
                <a:cs typeface="Calibri"/>
              </a:rPr>
              <a:t>Frankfurt</a:t>
            </a: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2C2C2C"/>
                </a:solidFill>
                <a:latin typeface="Calibri"/>
                <a:cs typeface="Calibri"/>
              </a:rPr>
              <a:t>(EU)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479665" y="3832859"/>
            <a:ext cx="59499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100" spc="-10">
                <a:solidFill>
                  <a:srgbClr val="2C2C2C"/>
                </a:solidFill>
                <a:latin typeface="Calibri"/>
                <a:cs typeface="Calibri"/>
              </a:rPr>
              <a:t>Auto-</a:t>
            </a:r>
            <a:r>
              <a:rPr dirty="0" sz="1100" spc="-20">
                <a:solidFill>
                  <a:srgbClr val="2C2C2C"/>
                </a:solidFill>
                <a:latin typeface="Calibri"/>
                <a:cs typeface="Calibri"/>
              </a:rPr>
              <a:t>seed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-1586" y="4751387"/>
            <a:ext cx="9152255" cy="398780"/>
            <a:chOff x="-1586" y="4751387"/>
            <a:chExt cx="9152255" cy="398780"/>
          </a:xfrm>
        </p:grpSpPr>
        <p:sp>
          <p:nvSpPr>
            <p:cNvPr id="56" name="object 56"/>
            <p:cNvSpPr/>
            <p:nvPr/>
          </p:nvSpPr>
          <p:spPr>
            <a:xfrm>
              <a:off x="4763" y="4757737"/>
              <a:ext cx="9139555" cy="386080"/>
            </a:xfrm>
            <a:custGeom>
              <a:avLst/>
              <a:gdLst/>
              <a:ahLst/>
              <a:cxnLst/>
              <a:rect l="l" t="t" r="r" b="b"/>
              <a:pathLst>
                <a:path w="9139555" h="386079">
                  <a:moveTo>
                    <a:pt x="9139236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9139236" y="385762"/>
                  </a:lnTo>
                  <a:lnTo>
                    <a:pt x="9139236" y="0"/>
                  </a:lnTo>
                  <a:close/>
                </a:path>
              </a:pathLst>
            </a:custGeom>
            <a:solidFill>
              <a:srgbClr val="7B2C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4763" y="4757737"/>
              <a:ext cx="9139555" cy="386080"/>
            </a:xfrm>
            <a:custGeom>
              <a:avLst/>
              <a:gdLst/>
              <a:ahLst/>
              <a:cxnLst/>
              <a:rect l="l" t="t" r="r" b="b"/>
              <a:pathLst>
                <a:path w="9139555" h="386079">
                  <a:moveTo>
                    <a:pt x="9139236" y="0"/>
                  </a:moveTo>
                  <a:lnTo>
                    <a:pt x="0" y="0"/>
                  </a:lnTo>
                  <a:lnTo>
                    <a:pt x="0" y="385762"/>
                  </a:lnTo>
                </a:path>
              </a:pathLst>
            </a:custGeom>
            <a:ln w="12700">
              <a:solidFill>
                <a:srgbClr val="7B2C6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pc="-10"/>
              <a:t>MasarratCare</a:t>
            </a:r>
            <a:r>
              <a:rPr dirty="0" spc="-50"/>
              <a:t> </a:t>
            </a:r>
            <a:r>
              <a:rPr dirty="0"/>
              <a:t>|</a:t>
            </a:r>
            <a:r>
              <a:rPr dirty="0" spc="-10"/>
              <a:t> </a:t>
            </a:r>
            <a:r>
              <a:rPr dirty="0"/>
              <a:t>Syed</a:t>
            </a:r>
            <a:r>
              <a:rPr dirty="0" spc="5"/>
              <a:t> </a:t>
            </a:r>
            <a:r>
              <a:rPr dirty="0"/>
              <a:t>Mubashir</a:t>
            </a:r>
            <a:r>
              <a:rPr dirty="0" spc="15"/>
              <a:t> </a:t>
            </a:r>
            <a:r>
              <a:rPr dirty="0"/>
              <a:t>Ahmed</a:t>
            </a:r>
            <a:r>
              <a:rPr dirty="0" spc="10"/>
              <a:t> </a:t>
            </a:r>
            <a:r>
              <a:rPr dirty="0" spc="-10"/>
              <a:t>Hashmi</a:t>
            </a:r>
            <a:r>
              <a:rPr dirty="0" spc="-35"/>
              <a:t> </a:t>
            </a:r>
            <a:r>
              <a:rPr dirty="0"/>
              <a:t>|</a:t>
            </a:r>
            <a:r>
              <a:rPr dirty="0" spc="-10"/>
              <a:t> 20089221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6172" sz="5400" spc="-44">
                <a:solidFill>
                  <a:srgbClr val="B54689"/>
                </a:solidFill>
              </a:rPr>
              <a:t>03</a:t>
            </a:r>
            <a:r>
              <a:rPr dirty="0" baseline="-6172" sz="5400" spc="-480">
                <a:solidFill>
                  <a:srgbClr val="B54689"/>
                </a:solidFill>
              </a:rPr>
              <a:t> </a:t>
            </a:r>
            <a:r>
              <a:rPr dirty="0" sz="2400"/>
              <a:t>CRUD</a:t>
            </a:r>
            <a:r>
              <a:rPr dirty="0" sz="2400" spc="-15"/>
              <a:t> </a:t>
            </a:r>
            <a:r>
              <a:rPr dirty="0" sz="2400" spc="-10"/>
              <a:t>Operations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1928876" y="1376425"/>
            <a:ext cx="2552700" cy="2990850"/>
            <a:chOff x="1928876" y="1376425"/>
            <a:chExt cx="2552700" cy="2990850"/>
          </a:xfrm>
        </p:grpSpPr>
        <p:sp>
          <p:nvSpPr>
            <p:cNvPr id="4" name="object 4"/>
            <p:cNvSpPr/>
            <p:nvPr/>
          </p:nvSpPr>
          <p:spPr>
            <a:xfrm>
              <a:off x="1928876" y="1376425"/>
              <a:ext cx="638175" cy="476250"/>
            </a:xfrm>
            <a:custGeom>
              <a:avLst/>
              <a:gdLst/>
              <a:ahLst/>
              <a:cxnLst/>
              <a:rect l="l" t="t" r="r" b="b"/>
              <a:pathLst>
                <a:path w="638175" h="476250">
                  <a:moveTo>
                    <a:pt x="638175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8175" y="476250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7400" y="1476311"/>
              <a:ext cx="366712" cy="30003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567051" y="1376425"/>
              <a:ext cx="638175" cy="476250"/>
            </a:xfrm>
            <a:custGeom>
              <a:avLst/>
              <a:gdLst/>
              <a:ahLst/>
              <a:cxnLst/>
              <a:rect l="l" t="t" r="r" b="b"/>
              <a:pathLst>
                <a:path w="638175" h="476250">
                  <a:moveTo>
                    <a:pt x="638175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8175" y="476250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95575" y="1476311"/>
              <a:ext cx="366712" cy="30003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205226" y="1376425"/>
              <a:ext cx="638175" cy="476250"/>
            </a:xfrm>
            <a:custGeom>
              <a:avLst/>
              <a:gdLst/>
              <a:ahLst/>
              <a:cxnLst/>
              <a:rect l="l" t="t" r="r" b="b"/>
              <a:pathLst>
                <a:path w="638175" h="476250">
                  <a:moveTo>
                    <a:pt x="638175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8175" y="476250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33750" y="1476311"/>
              <a:ext cx="366712" cy="30003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843401" y="1376425"/>
              <a:ext cx="638175" cy="476250"/>
            </a:xfrm>
            <a:custGeom>
              <a:avLst/>
              <a:gdLst/>
              <a:ahLst/>
              <a:cxnLst/>
              <a:rect l="l" t="t" r="r" b="b"/>
              <a:pathLst>
                <a:path w="638175" h="476250">
                  <a:moveTo>
                    <a:pt x="638175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8175" y="476250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71925" y="1476311"/>
              <a:ext cx="366712" cy="30003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928876" y="1881250"/>
              <a:ext cx="638175" cy="476250"/>
            </a:xfrm>
            <a:custGeom>
              <a:avLst/>
              <a:gdLst/>
              <a:ahLst/>
              <a:cxnLst/>
              <a:rect l="l" t="t" r="r" b="b"/>
              <a:pathLst>
                <a:path w="638175" h="476250">
                  <a:moveTo>
                    <a:pt x="638175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8175" y="476250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F8EF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57400" y="1981136"/>
              <a:ext cx="366712" cy="29051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567051" y="1881250"/>
              <a:ext cx="638175" cy="476250"/>
            </a:xfrm>
            <a:custGeom>
              <a:avLst/>
              <a:gdLst/>
              <a:ahLst/>
              <a:cxnLst/>
              <a:rect l="l" t="t" r="r" b="b"/>
              <a:pathLst>
                <a:path w="638175" h="476250">
                  <a:moveTo>
                    <a:pt x="638175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8175" y="476250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F8EF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95575" y="1981136"/>
              <a:ext cx="366712" cy="29051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205226" y="1881250"/>
              <a:ext cx="638175" cy="476250"/>
            </a:xfrm>
            <a:custGeom>
              <a:avLst/>
              <a:gdLst/>
              <a:ahLst/>
              <a:cxnLst/>
              <a:rect l="l" t="t" r="r" b="b"/>
              <a:pathLst>
                <a:path w="638175" h="476250">
                  <a:moveTo>
                    <a:pt x="638175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8175" y="476250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F8EF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33750" y="1981136"/>
              <a:ext cx="366712" cy="29051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843401" y="1881250"/>
              <a:ext cx="638175" cy="476250"/>
            </a:xfrm>
            <a:custGeom>
              <a:avLst/>
              <a:gdLst/>
              <a:ahLst/>
              <a:cxnLst/>
              <a:rect l="l" t="t" r="r" b="b"/>
              <a:pathLst>
                <a:path w="638175" h="476250">
                  <a:moveTo>
                    <a:pt x="638175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8175" y="476250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F8EF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71925" y="1981136"/>
              <a:ext cx="366712" cy="29051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928876" y="2386075"/>
              <a:ext cx="638175" cy="476250"/>
            </a:xfrm>
            <a:custGeom>
              <a:avLst/>
              <a:gdLst/>
              <a:ahLst/>
              <a:cxnLst/>
              <a:rect l="l" t="t" r="r" b="b"/>
              <a:pathLst>
                <a:path w="638175" h="476250">
                  <a:moveTo>
                    <a:pt x="638175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8175" y="476250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57400" y="2485961"/>
              <a:ext cx="366712" cy="29051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567051" y="2386075"/>
              <a:ext cx="638175" cy="476250"/>
            </a:xfrm>
            <a:custGeom>
              <a:avLst/>
              <a:gdLst/>
              <a:ahLst/>
              <a:cxnLst/>
              <a:rect l="l" t="t" r="r" b="b"/>
              <a:pathLst>
                <a:path w="638175" h="476250">
                  <a:moveTo>
                    <a:pt x="638175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8175" y="476250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95575" y="2485961"/>
              <a:ext cx="366712" cy="29051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205226" y="2386075"/>
              <a:ext cx="638175" cy="476250"/>
            </a:xfrm>
            <a:custGeom>
              <a:avLst/>
              <a:gdLst/>
              <a:ahLst/>
              <a:cxnLst/>
              <a:rect l="l" t="t" r="r" b="b"/>
              <a:pathLst>
                <a:path w="638175" h="476250">
                  <a:moveTo>
                    <a:pt x="638175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8175" y="476250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33750" y="2485961"/>
              <a:ext cx="366712" cy="29051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843401" y="2386075"/>
              <a:ext cx="638175" cy="476250"/>
            </a:xfrm>
            <a:custGeom>
              <a:avLst/>
              <a:gdLst/>
              <a:ahLst/>
              <a:cxnLst/>
              <a:rect l="l" t="t" r="r" b="b"/>
              <a:pathLst>
                <a:path w="638175" h="476250">
                  <a:moveTo>
                    <a:pt x="638175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8175" y="476250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71925" y="2485961"/>
              <a:ext cx="366712" cy="29051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928876" y="2881375"/>
              <a:ext cx="638175" cy="476250"/>
            </a:xfrm>
            <a:custGeom>
              <a:avLst/>
              <a:gdLst/>
              <a:ahLst/>
              <a:cxnLst/>
              <a:rect l="l" t="t" r="r" b="b"/>
              <a:pathLst>
                <a:path w="638175" h="476250">
                  <a:moveTo>
                    <a:pt x="638175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8175" y="476250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F8EF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57400" y="2990786"/>
              <a:ext cx="366712" cy="290512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567051" y="2881375"/>
              <a:ext cx="638175" cy="476250"/>
            </a:xfrm>
            <a:custGeom>
              <a:avLst/>
              <a:gdLst/>
              <a:ahLst/>
              <a:cxnLst/>
              <a:rect l="l" t="t" r="r" b="b"/>
              <a:pathLst>
                <a:path w="638175" h="476250">
                  <a:moveTo>
                    <a:pt x="638175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8175" y="476250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F8EF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95575" y="2990786"/>
              <a:ext cx="366712" cy="290512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843401" y="2881375"/>
              <a:ext cx="638175" cy="476250"/>
            </a:xfrm>
            <a:custGeom>
              <a:avLst/>
              <a:gdLst/>
              <a:ahLst/>
              <a:cxnLst/>
              <a:rect l="l" t="t" r="r" b="b"/>
              <a:pathLst>
                <a:path w="638175" h="476250">
                  <a:moveTo>
                    <a:pt x="638175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8175" y="476250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F8EF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71925" y="2990786"/>
              <a:ext cx="366712" cy="29051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928876" y="3386200"/>
              <a:ext cx="638175" cy="476250"/>
            </a:xfrm>
            <a:custGeom>
              <a:avLst/>
              <a:gdLst/>
              <a:ahLst/>
              <a:cxnLst/>
              <a:rect l="l" t="t" r="r" b="b"/>
              <a:pathLst>
                <a:path w="638175" h="476250">
                  <a:moveTo>
                    <a:pt x="638175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8175" y="476250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7400" y="3486213"/>
              <a:ext cx="366712" cy="30003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567051" y="3386200"/>
              <a:ext cx="638175" cy="476250"/>
            </a:xfrm>
            <a:custGeom>
              <a:avLst/>
              <a:gdLst/>
              <a:ahLst/>
              <a:cxnLst/>
              <a:rect l="l" t="t" r="r" b="b"/>
              <a:pathLst>
                <a:path w="638175" h="476250">
                  <a:moveTo>
                    <a:pt x="638175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8175" y="476250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95575" y="3486213"/>
              <a:ext cx="366712" cy="300037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843401" y="3386200"/>
              <a:ext cx="638175" cy="476250"/>
            </a:xfrm>
            <a:custGeom>
              <a:avLst/>
              <a:gdLst/>
              <a:ahLst/>
              <a:cxnLst/>
              <a:rect l="l" t="t" r="r" b="b"/>
              <a:pathLst>
                <a:path w="638175" h="476250">
                  <a:moveTo>
                    <a:pt x="638175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8175" y="476250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71925" y="3486213"/>
              <a:ext cx="366712" cy="300037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928876" y="3890962"/>
              <a:ext cx="638175" cy="476250"/>
            </a:xfrm>
            <a:custGeom>
              <a:avLst/>
              <a:gdLst/>
              <a:ahLst/>
              <a:cxnLst/>
              <a:rect l="l" t="t" r="r" b="b"/>
              <a:pathLst>
                <a:path w="638175" h="476250">
                  <a:moveTo>
                    <a:pt x="638175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8175" y="476250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F8EF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7400" y="3990974"/>
              <a:ext cx="366712" cy="300037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2567051" y="3890962"/>
              <a:ext cx="638175" cy="476250"/>
            </a:xfrm>
            <a:custGeom>
              <a:avLst/>
              <a:gdLst/>
              <a:ahLst/>
              <a:cxnLst/>
              <a:rect l="l" t="t" r="r" b="b"/>
              <a:pathLst>
                <a:path w="638175" h="476250">
                  <a:moveTo>
                    <a:pt x="638175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8175" y="476250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F8EF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95575" y="3990974"/>
              <a:ext cx="366712" cy="300037"/>
            </a:xfrm>
            <a:prstGeom prst="rect">
              <a:avLst/>
            </a:prstGeom>
          </p:spPr>
        </p:pic>
      </p:grpSp>
      <p:graphicFrame>
        <p:nvGraphicFramePr>
          <p:cNvPr id="44" name="object 44"/>
          <p:cNvGraphicFramePr>
            <a:graphicFrameLocks noGrp="1"/>
          </p:cNvGraphicFramePr>
          <p:nvPr/>
        </p:nvGraphicFramePr>
        <p:xfrm>
          <a:off x="274637" y="1001775"/>
          <a:ext cx="8595360" cy="3357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7825"/>
                <a:gridCol w="638175"/>
                <a:gridCol w="638175"/>
                <a:gridCol w="638175"/>
                <a:gridCol w="638175"/>
                <a:gridCol w="4305300"/>
              </a:tblGrid>
              <a:tr h="368300">
                <a:tc>
                  <a:txBody>
                    <a:bodyPr/>
                    <a:lstStyle/>
                    <a:p>
                      <a:pPr algn="ctr" marR="8255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Entity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1915">
                    <a:lnL w="12700">
                      <a:solidFill>
                        <a:srgbClr val="7B2C6B"/>
                      </a:solidFill>
                      <a:prstDash val="solid"/>
                    </a:lnL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7B2C6B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54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12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1915"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7B2C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12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1915"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7B2C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12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1915"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7B2C6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12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1915"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7B2C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Notes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81915">
                    <a:lnR w="12700">
                      <a:solidFill>
                        <a:srgbClr val="7B2C6B"/>
                      </a:solidFill>
                      <a:prstDash val="solid"/>
                    </a:lnR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7B2C6B"/>
                    </a:solidFill>
                  </a:tcPr>
                </a:tc>
              </a:tr>
              <a:tr h="490220">
                <a:tc>
                  <a:txBody>
                    <a:bodyPr/>
                    <a:lstStyle/>
                    <a:p>
                      <a:pPr algn="ctr" marR="6985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dirty="0" sz="1200" spc="-10" b="1">
                          <a:solidFill>
                            <a:srgbClr val="7B2C6B"/>
                          </a:solidFill>
                          <a:latin typeface="Calibri"/>
                          <a:cs typeface="Calibri"/>
                        </a:rPr>
                        <a:t>Products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3462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dirty="0" sz="110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Full</a:t>
                      </a:r>
                      <a:r>
                        <a:rPr dirty="0" sz="1100" spc="-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CRUD</a:t>
                      </a:r>
                      <a:r>
                        <a:rPr dirty="0" sz="1100" spc="-35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100" spc="5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name,</a:t>
                      </a:r>
                      <a:r>
                        <a:rPr dirty="0" sz="1100" spc="1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category,</a:t>
                      </a:r>
                      <a:r>
                        <a:rPr dirty="0" sz="1100" spc="5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price,</a:t>
                      </a:r>
                      <a:r>
                        <a:rPr dirty="0" sz="1100" spc="5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45415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ctr" marR="190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dirty="0" sz="1200" spc="-10" b="1">
                          <a:solidFill>
                            <a:srgbClr val="7B2C6B"/>
                          </a:solidFill>
                          <a:latin typeface="Calibri"/>
                          <a:cs typeface="Calibri"/>
                        </a:rPr>
                        <a:t>Shades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47955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dirty="0" sz="110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Colour</a:t>
                      </a:r>
                      <a:r>
                        <a:rPr dirty="0" sz="1100" spc="25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circles</a:t>
                      </a:r>
                      <a:r>
                        <a:rPr dirty="0" sz="1100" spc="-2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100" spc="-2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hex</a:t>
                      </a:r>
                      <a:r>
                        <a:rPr dirty="0" sz="1100" spc="1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codes</a:t>
                      </a:r>
                      <a:r>
                        <a:rPr dirty="0" sz="1100" spc="-2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per</a:t>
                      </a:r>
                      <a:r>
                        <a:rPr dirty="0" sz="1100" spc="3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product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875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8EFF5"/>
                    </a:solidFill>
                  </a:tcPr>
                </a:tc>
              </a:tr>
              <a:tr h="499745">
                <a:tc>
                  <a:txBody>
                    <a:bodyPr/>
                    <a:lstStyle/>
                    <a:p>
                      <a:pPr algn="ctr" marR="4445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dirty="0" sz="1200" b="1">
                          <a:solidFill>
                            <a:srgbClr val="7B2C6B"/>
                          </a:solidFill>
                          <a:latin typeface="Calibri"/>
                          <a:cs typeface="Calibri"/>
                        </a:rPr>
                        <a:t>Batch</a:t>
                      </a:r>
                      <a:r>
                        <a:rPr dirty="0" sz="1200" spc="-45" b="1">
                          <a:solidFill>
                            <a:srgbClr val="7B2C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7B2C6B"/>
                          </a:solidFill>
                          <a:latin typeface="Calibri"/>
                          <a:cs typeface="Calibri"/>
                        </a:rPr>
                        <a:t>Codes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4732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dirty="0" sz="110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Genuine/Fake</a:t>
                      </a:r>
                      <a:r>
                        <a:rPr dirty="0" sz="1100" spc="-5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flag</a:t>
                      </a:r>
                      <a:r>
                        <a:rPr dirty="0" sz="1100" spc="-3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100" spc="-2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toggleable </a:t>
                      </a:r>
                      <a:r>
                        <a:rPr dirty="0" sz="1100" spc="-2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table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58115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9745">
                <a:tc>
                  <a:txBody>
                    <a:bodyPr/>
                    <a:lstStyle/>
                    <a:p>
                      <a:pPr algn="ctr" marR="5080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dirty="0" sz="1200" spc="-10" b="1">
                          <a:solidFill>
                            <a:srgbClr val="7B2C6B"/>
                          </a:solidFill>
                          <a:latin typeface="Calibri"/>
                          <a:cs typeface="Calibri"/>
                        </a:rPr>
                        <a:t>Reviews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113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Product</a:t>
                      </a:r>
                      <a:r>
                        <a:rPr dirty="0" sz="1100" spc="-3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r>
                        <a:rPr dirty="0" sz="1100" spc="1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via</a:t>
                      </a:r>
                      <a:r>
                        <a:rPr dirty="0" sz="1100" spc="-35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SQL</a:t>
                      </a:r>
                      <a:r>
                        <a:rPr dirty="0" sz="1100" spc="-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JOIN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635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8EFF5"/>
                    </a:solidFill>
                  </a:tcPr>
                </a:tc>
              </a:tr>
              <a:tr h="504190"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dirty="0" sz="1200" spc="-10" b="1">
                          <a:solidFill>
                            <a:srgbClr val="7B2C6B"/>
                          </a:solidFill>
                          <a:latin typeface="Calibri"/>
                          <a:cs typeface="Calibri"/>
                        </a:rPr>
                        <a:t>Wishlist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494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Product</a:t>
                      </a:r>
                      <a:r>
                        <a:rPr dirty="0" sz="1100" spc="-3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r>
                        <a:rPr dirty="0" sz="1100" spc="1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via</a:t>
                      </a:r>
                      <a:r>
                        <a:rPr dirty="0" sz="1100" spc="-35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SQL</a:t>
                      </a:r>
                      <a:r>
                        <a:rPr dirty="0" sz="1100" spc="-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JOIN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0220">
                <a:tc>
                  <a:txBody>
                    <a:bodyPr/>
                    <a:lstStyle/>
                    <a:p>
                      <a:pPr algn="ctr" marR="698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dirty="0" sz="1200" spc="-10" b="1">
                          <a:solidFill>
                            <a:srgbClr val="7B2C6B"/>
                          </a:solidFill>
                          <a:latin typeface="Calibri"/>
                          <a:cs typeface="Calibri"/>
                        </a:rPr>
                        <a:t>Users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5367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</a:pPr>
                      <a:r>
                        <a:rPr dirty="0" sz="110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 marL="6350">
                        <a:lnSpc>
                          <a:spcPct val="100000"/>
                        </a:lnSpc>
                      </a:pPr>
                      <a:r>
                        <a:rPr dirty="0" sz="110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</a:pPr>
                      <a:r>
                        <a:rPr dirty="0" sz="110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Login</a:t>
                      </a:r>
                      <a:r>
                        <a:rPr dirty="0" sz="1100" spc="-35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1100" spc="-1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register</a:t>
                      </a:r>
                      <a:r>
                        <a:rPr dirty="0" sz="1100" spc="15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100" spc="-35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localStorage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F8EFF5"/>
                    </a:solidFill>
                  </a:tcPr>
                </a:tc>
              </a:tr>
            </a:tbl>
          </a:graphicData>
        </a:graphic>
      </p:graphicFrame>
      <p:grpSp>
        <p:nvGrpSpPr>
          <p:cNvPr id="45" name="object 45"/>
          <p:cNvGrpSpPr/>
          <p:nvPr/>
        </p:nvGrpSpPr>
        <p:grpSpPr>
          <a:xfrm>
            <a:off x="-1586" y="4751387"/>
            <a:ext cx="9152255" cy="398780"/>
            <a:chOff x="-1586" y="4751387"/>
            <a:chExt cx="9152255" cy="398780"/>
          </a:xfrm>
        </p:grpSpPr>
        <p:sp>
          <p:nvSpPr>
            <p:cNvPr id="46" name="object 46"/>
            <p:cNvSpPr/>
            <p:nvPr/>
          </p:nvSpPr>
          <p:spPr>
            <a:xfrm>
              <a:off x="4763" y="4757737"/>
              <a:ext cx="9139555" cy="386080"/>
            </a:xfrm>
            <a:custGeom>
              <a:avLst/>
              <a:gdLst/>
              <a:ahLst/>
              <a:cxnLst/>
              <a:rect l="l" t="t" r="r" b="b"/>
              <a:pathLst>
                <a:path w="9139555" h="386079">
                  <a:moveTo>
                    <a:pt x="9139236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9139236" y="385762"/>
                  </a:lnTo>
                  <a:lnTo>
                    <a:pt x="9139236" y="0"/>
                  </a:lnTo>
                  <a:close/>
                </a:path>
              </a:pathLst>
            </a:custGeom>
            <a:solidFill>
              <a:srgbClr val="7B2C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4763" y="4757737"/>
              <a:ext cx="9139555" cy="386080"/>
            </a:xfrm>
            <a:custGeom>
              <a:avLst/>
              <a:gdLst/>
              <a:ahLst/>
              <a:cxnLst/>
              <a:rect l="l" t="t" r="r" b="b"/>
              <a:pathLst>
                <a:path w="9139555" h="386079">
                  <a:moveTo>
                    <a:pt x="9139236" y="0"/>
                  </a:moveTo>
                  <a:lnTo>
                    <a:pt x="0" y="0"/>
                  </a:lnTo>
                  <a:lnTo>
                    <a:pt x="0" y="385762"/>
                  </a:lnTo>
                </a:path>
              </a:pathLst>
            </a:custGeom>
            <a:ln w="12700">
              <a:solidFill>
                <a:srgbClr val="7B2C6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pc="-10"/>
              <a:t>MasarratCare</a:t>
            </a:r>
            <a:r>
              <a:rPr dirty="0" spc="-50"/>
              <a:t> </a:t>
            </a:r>
            <a:r>
              <a:rPr dirty="0"/>
              <a:t>|</a:t>
            </a:r>
            <a:r>
              <a:rPr dirty="0" spc="-10"/>
              <a:t> </a:t>
            </a:r>
            <a:r>
              <a:rPr dirty="0"/>
              <a:t>Syed</a:t>
            </a:r>
            <a:r>
              <a:rPr dirty="0" spc="5"/>
              <a:t> </a:t>
            </a:r>
            <a:r>
              <a:rPr dirty="0"/>
              <a:t>Mubashir</a:t>
            </a:r>
            <a:r>
              <a:rPr dirty="0" spc="15"/>
              <a:t> </a:t>
            </a:r>
            <a:r>
              <a:rPr dirty="0"/>
              <a:t>Ahmed</a:t>
            </a:r>
            <a:r>
              <a:rPr dirty="0" spc="10"/>
              <a:t> </a:t>
            </a:r>
            <a:r>
              <a:rPr dirty="0" spc="-10"/>
              <a:t>Hashmi</a:t>
            </a:r>
            <a:r>
              <a:rPr dirty="0" spc="-35"/>
              <a:t> </a:t>
            </a:r>
            <a:r>
              <a:rPr dirty="0"/>
              <a:t>|</a:t>
            </a:r>
            <a:r>
              <a:rPr dirty="0" spc="-10"/>
              <a:t> 20089221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6172" sz="5400" spc="-44">
                <a:solidFill>
                  <a:srgbClr val="B54689"/>
                </a:solidFill>
              </a:rPr>
              <a:t>04</a:t>
            </a:r>
            <a:r>
              <a:rPr dirty="0" baseline="-6172" sz="5400" spc="-480">
                <a:solidFill>
                  <a:srgbClr val="B54689"/>
                </a:solidFill>
              </a:rPr>
              <a:t> </a:t>
            </a:r>
            <a:r>
              <a:rPr dirty="0" sz="2400"/>
              <a:t>Key</a:t>
            </a:r>
            <a:r>
              <a:rPr dirty="0" sz="2400" spc="-10"/>
              <a:t> Features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133350" y="962025"/>
            <a:ext cx="4434205" cy="1424305"/>
            <a:chOff x="133350" y="962025"/>
            <a:chExt cx="4434205" cy="14243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350" y="962025"/>
              <a:ext cx="4433951" cy="142392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47662" y="1052576"/>
              <a:ext cx="4133850" cy="1190625"/>
            </a:xfrm>
            <a:custGeom>
              <a:avLst/>
              <a:gdLst/>
              <a:ahLst/>
              <a:cxnLst/>
              <a:rect l="l" t="t" r="r" b="b"/>
              <a:pathLst>
                <a:path w="4133850" h="1190625">
                  <a:moveTo>
                    <a:pt x="0" y="1190625"/>
                  </a:moveTo>
                  <a:lnTo>
                    <a:pt x="4133850" y="1190625"/>
                  </a:lnTo>
                  <a:lnTo>
                    <a:pt x="4133850" y="0"/>
                  </a:lnTo>
                  <a:lnTo>
                    <a:pt x="0" y="0"/>
                  </a:lnTo>
                  <a:lnTo>
                    <a:pt x="0" y="11906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80987" y="1052576"/>
              <a:ext cx="4200525" cy="1190625"/>
            </a:xfrm>
            <a:custGeom>
              <a:avLst/>
              <a:gdLst/>
              <a:ahLst/>
              <a:cxnLst/>
              <a:rect l="l" t="t" r="r" b="b"/>
              <a:pathLst>
                <a:path w="4200525" h="1190625">
                  <a:moveTo>
                    <a:pt x="0" y="1190625"/>
                  </a:moveTo>
                  <a:lnTo>
                    <a:pt x="4200525" y="1190625"/>
                  </a:lnTo>
                  <a:lnTo>
                    <a:pt x="4200525" y="0"/>
                  </a:lnTo>
                  <a:lnTo>
                    <a:pt x="0" y="0"/>
                  </a:lnTo>
                  <a:lnTo>
                    <a:pt x="0" y="1190625"/>
                  </a:lnTo>
                  <a:close/>
                </a:path>
              </a:pathLst>
            </a:custGeom>
            <a:ln w="12700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80987" y="1052576"/>
              <a:ext cx="66675" cy="1190625"/>
            </a:xfrm>
            <a:custGeom>
              <a:avLst/>
              <a:gdLst/>
              <a:ahLst/>
              <a:cxnLst/>
              <a:rect l="l" t="t" r="r" b="b"/>
              <a:pathLst>
                <a:path w="66675" h="1190625">
                  <a:moveTo>
                    <a:pt x="66675" y="0"/>
                  </a:moveTo>
                  <a:lnTo>
                    <a:pt x="0" y="0"/>
                  </a:lnTo>
                  <a:lnTo>
                    <a:pt x="0" y="1190625"/>
                  </a:lnTo>
                  <a:lnTo>
                    <a:pt x="66675" y="119062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B546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80987" y="1052576"/>
              <a:ext cx="66675" cy="1190625"/>
            </a:xfrm>
            <a:custGeom>
              <a:avLst/>
              <a:gdLst/>
              <a:ahLst/>
              <a:cxnLst/>
              <a:rect l="l" t="t" r="r" b="b"/>
              <a:pathLst>
                <a:path w="66675" h="1190625">
                  <a:moveTo>
                    <a:pt x="0" y="1190625"/>
                  </a:moveTo>
                  <a:lnTo>
                    <a:pt x="66675" y="1190625"/>
                  </a:lnTo>
                  <a:lnTo>
                    <a:pt x="66675" y="0"/>
                  </a:lnTo>
                  <a:lnTo>
                    <a:pt x="0" y="0"/>
                  </a:lnTo>
                  <a:lnTo>
                    <a:pt x="0" y="1190625"/>
                  </a:lnTo>
                  <a:close/>
                </a:path>
              </a:pathLst>
            </a:custGeom>
            <a:ln w="12700">
              <a:solidFill>
                <a:srgbClr val="B5468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8625" y="1123886"/>
              <a:ext cx="423862" cy="34766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09775" y="1609661"/>
              <a:ext cx="328612" cy="27146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38425" y="1609661"/>
              <a:ext cx="338137" cy="271462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54012" y="1165542"/>
            <a:ext cx="4121150" cy="7912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437515">
              <a:lnSpc>
                <a:spcPct val="100000"/>
              </a:lnSpc>
              <a:spcBef>
                <a:spcPts val="125"/>
              </a:spcBef>
            </a:pPr>
            <a:r>
              <a:rPr dirty="0" sz="1250" b="1">
                <a:solidFill>
                  <a:srgbClr val="B54689"/>
                </a:solidFill>
                <a:latin typeface="Calibri"/>
                <a:cs typeface="Calibri"/>
              </a:rPr>
              <a:t>Authenticity</a:t>
            </a:r>
            <a:r>
              <a:rPr dirty="0" sz="1250" spc="155" b="1">
                <a:solidFill>
                  <a:srgbClr val="B54689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B54689"/>
                </a:solidFill>
                <a:latin typeface="Calibri"/>
                <a:cs typeface="Calibri"/>
              </a:rPr>
              <a:t>Checker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250">
              <a:latin typeface="Calibri"/>
              <a:cs typeface="Calibri"/>
            </a:endParaRPr>
          </a:p>
          <a:p>
            <a:pPr marL="176530">
              <a:lnSpc>
                <a:spcPts val="1135"/>
              </a:lnSpc>
              <a:tabLst>
                <a:tab pos="1940560" algn="l"/>
              </a:tabLst>
            </a:pP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Enter</a:t>
            </a:r>
            <a:r>
              <a:rPr dirty="0" sz="950" spc="4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batch</a:t>
            </a:r>
            <a:r>
              <a:rPr dirty="0" sz="950" spc="114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code</a:t>
            </a:r>
            <a:r>
              <a:rPr dirty="0" sz="950" spc="5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→</a:t>
            </a:r>
            <a:r>
              <a:rPr dirty="0" sz="950" spc="13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2C2C"/>
                </a:solidFill>
                <a:latin typeface="Calibri"/>
                <a:cs typeface="Calibri"/>
              </a:rPr>
              <a:t>GENUINE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	or</a:t>
            </a:r>
            <a:r>
              <a:rPr dirty="0" sz="950" spc="7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2C2C2C"/>
                </a:solidFill>
                <a:latin typeface="Calibri"/>
                <a:cs typeface="Calibri"/>
              </a:rPr>
              <a:t>FAKE</a:t>
            </a:r>
            <a:endParaRPr sz="950">
              <a:latin typeface="Calibri"/>
              <a:cs typeface="Calibri"/>
            </a:endParaRPr>
          </a:p>
          <a:p>
            <a:pPr marL="176530">
              <a:lnSpc>
                <a:spcPts val="1135"/>
              </a:lnSpc>
            </a:pP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QR</a:t>
            </a:r>
            <a:r>
              <a:rPr dirty="0" sz="950" spc="6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code</a:t>
            </a:r>
            <a:r>
              <a:rPr dirty="0" sz="950" spc="13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generated</a:t>
            </a:r>
            <a:r>
              <a:rPr dirty="0" sz="950" spc="9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for</a:t>
            </a:r>
            <a:r>
              <a:rPr dirty="0" sz="950" spc="13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genuine</a:t>
            </a:r>
            <a:r>
              <a:rPr dirty="0" sz="950" spc="13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products</a:t>
            </a:r>
            <a:r>
              <a:rPr dirty="0" sz="950" spc="7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only</a:t>
            </a:r>
            <a:r>
              <a:rPr dirty="0" sz="950" spc="9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via</a:t>
            </a:r>
            <a:r>
              <a:rPr dirty="0" sz="950" spc="6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QR</a:t>
            </a:r>
            <a:r>
              <a:rPr dirty="0" sz="950" spc="7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Server</a:t>
            </a:r>
            <a:r>
              <a:rPr dirty="0" sz="950" spc="13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-25">
                <a:solidFill>
                  <a:srgbClr val="2C2C2C"/>
                </a:solidFill>
                <a:latin typeface="Calibri"/>
                <a:cs typeface="Calibri"/>
              </a:rPr>
              <a:t>API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62475" y="962025"/>
            <a:ext cx="4443730" cy="1424305"/>
            <a:chOff x="4562475" y="962025"/>
            <a:chExt cx="4443730" cy="1424305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62475" y="962025"/>
              <a:ext cx="4443476" cy="142392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786375" y="1052576"/>
              <a:ext cx="4133850" cy="1190625"/>
            </a:xfrm>
            <a:custGeom>
              <a:avLst/>
              <a:gdLst/>
              <a:ahLst/>
              <a:cxnLst/>
              <a:rect l="l" t="t" r="r" b="b"/>
              <a:pathLst>
                <a:path w="4133850" h="1190625">
                  <a:moveTo>
                    <a:pt x="0" y="1190625"/>
                  </a:moveTo>
                  <a:lnTo>
                    <a:pt x="4133850" y="1190625"/>
                  </a:lnTo>
                  <a:lnTo>
                    <a:pt x="4133850" y="0"/>
                  </a:lnTo>
                  <a:lnTo>
                    <a:pt x="0" y="0"/>
                  </a:lnTo>
                  <a:lnTo>
                    <a:pt x="0" y="11906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710176" y="1052576"/>
              <a:ext cx="4210050" cy="1190625"/>
            </a:xfrm>
            <a:custGeom>
              <a:avLst/>
              <a:gdLst/>
              <a:ahLst/>
              <a:cxnLst/>
              <a:rect l="l" t="t" r="r" b="b"/>
              <a:pathLst>
                <a:path w="4210050" h="1190625">
                  <a:moveTo>
                    <a:pt x="0" y="1190625"/>
                  </a:moveTo>
                  <a:lnTo>
                    <a:pt x="4210050" y="1190625"/>
                  </a:lnTo>
                  <a:lnTo>
                    <a:pt x="4210050" y="0"/>
                  </a:lnTo>
                  <a:lnTo>
                    <a:pt x="0" y="0"/>
                  </a:lnTo>
                  <a:lnTo>
                    <a:pt x="0" y="1190625"/>
                  </a:lnTo>
                  <a:close/>
                </a:path>
              </a:pathLst>
            </a:custGeom>
            <a:ln w="12700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710176" y="1052576"/>
              <a:ext cx="76200" cy="1190625"/>
            </a:xfrm>
            <a:custGeom>
              <a:avLst/>
              <a:gdLst/>
              <a:ahLst/>
              <a:cxnLst/>
              <a:rect l="l" t="t" r="r" b="b"/>
              <a:pathLst>
                <a:path w="76200" h="1190625">
                  <a:moveTo>
                    <a:pt x="76200" y="0"/>
                  </a:moveTo>
                  <a:lnTo>
                    <a:pt x="0" y="0"/>
                  </a:lnTo>
                  <a:lnTo>
                    <a:pt x="0" y="1190625"/>
                  </a:lnTo>
                  <a:lnTo>
                    <a:pt x="76200" y="119062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7B2C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710176" y="1052576"/>
              <a:ext cx="76200" cy="1190625"/>
            </a:xfrm>
            <a:custGeom>
              <a:avLst/>
              <a:gdLst/>
              <a:ahLst/>
              <a:cxnLst/>
              <a:rect l="l" t="t" r="r" b="b"/>
              <a:pathLst>
                <a:path w="76200" h="1190625">
                  <a:moveTo>
                    <a:pt x="0" y="1190625"/>
                  </a:moveTo>
                  <a:lnTo>
                    <a:pt x="76200" y="1190625"/>
                  </a:lnTo>
                  <a:lnTo>
                    <a:pt x="76200" y="0"/>
                  </a:lnTo>
                  <a:lnTo>
                    <a:pt x="0" y="0"/>
                  </a:lnTo>
                  <a:lnTo>
                    <a:pt x="0" y="1190625"/>
                  </a:lnTo>
                  <a:close/>
                </a:path>
              </a:pathLst>
            </a:custGeom>
            <a:ln w="12700">
              <a:solidFill>
                <a:srgbClr val="7B2C6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57750" y="1123886"/>
              <a:ext cx="433387" cy="347662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786376" y="1165542"/>
            <a:ext cx="4127500" cy="7912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444500">
              <a:lnSpc>
                <a:spcPct val="100000"/>
              </a:lnSpc>
              <a:spcBef>
                <a:spcPts val="125"/>
              </a:spcBef>
            </a:pPr>
            <a:r>
              <a:rPr dirty="0" sz="1250" b="1">
                <a:solidFill>
                  <a:srgbClr val="7B2C6B"/>
                </a:solidFill>
                <a:latin typeface="Calibri"/>
                <a:cs typeface="Calibri"/>
              </a:rPr>
              <a:t>Shade</a:t>
            </a:r>
            <a:r>
              <a:rPr dirty="0" sz="1250" spc="125" b="1">
                <a:solidFill>
                  <a:srgbClr val="7B2C6B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7B2C6B"/>
                </a:solidFill>
                <a:latin typeface="Calibri"/>
                <a:cs typeface="Calibri"/>
              </a:rPr>
              <a:t>Finder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1250">
              <a:latin typeface="Calibri"/>
              <a:cs typeface="Calibri"/>
            </a:endParaRPr>
          </a:p>
          <a:p>
            <a:pPr marL="184150" marR="1811655">
              <a:lnSpc>
                <a:spcPct val="105400"/>
              </a:lnSpc>
            </a:pP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Colour</a:t>
            </a:r>
            <a:r>
              <a:rPr dirty="0" sz="950" spc="114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circles</a:t>
            </a:r>
            <a:r>
              <a:rPr dirty="0" sz="950" spc="6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with</a:t>
            </a:r>
            <a:r>
              <a:rPr dirty="0" sz="950" spc="8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hex</a:t>
            </a:r>
            <a:r>
              <a:rPr dirty="0" sz="950" spc="10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codes</a:t>
            </a:r>
            <a:r>
              <a:rPr dirty="0" sz="950" spc="6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per</a:t>
            </a:r>
            <a:r>
              <a:rPr dirty="0" sz="950" spc="12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2C2C"/>
                </a:solidFill>
                <a:latin typeface="Calibri"/>
                <a:cs typeface="Calibri"/>
              </a:rPr>
              <a:t>product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Edit</a:t>
            </a:r>
            <a:r>
              <a:rPr dirty="0" sz="950" spc="4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and</a:t>
            </a:r>
            <a:r>
              <a:rPr dirty="0" sz="950" spc="9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delete</a:t>
            </a:r>
            <a:r>
              <a:rPr dirty="0" sz="950" spc="13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shades</a:t>
            </a:r>
            <a:r>
              <a:rPr dirty="0" sz="950" spc="7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with</a:t>
            </a:r>
            <a:r>
              <a:rPr dirty="0" sz="950" spc="9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full</a:t>
            </a:r>
            <a:r>
              <a:rPr dirty="0" sz="950" spc="8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2C2C2C"/>
                </a:solidFill>
                <a:latin typeface="Calibri"/>
                <a:cs typeface="Calibri"/>
              </a:rPr>
              <a:t>CRUD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33350" y="2295651"/>
            <a:ext cx="4434205" cy="1414780"/>
            <a:chOff x="133350" y="2295651"/>
            <a:chExt cx="4434205" cy="1414780"/>
          </a:xfrm>
        </p:grpSpPr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3350" y="2295651"/>
              <a:ext cx="4433951" cy="141439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47662" y="2386075"/>
              <a:ext cx="4133850" cy="1181100"/>
            </a:xfrm>
            <a:custGeom>
              <a:avLst/>
              <a:gdLst/>
              <a:ahLst/>
              <a:cxnLst/>
              <a:rect l="l" t="t" r="r" b="b"/>
              <a:pathLst>
                <a:path w="4133850" h="1181100">
                  <a:moveTo>
                    <a:pt x="0" y="1181100"/>
                  </a:moveTo>
                  <a:lnTo>
                    <a:pt x="4133850" y="1181100"/>
                  </a:lnTo>
                  <a:lnTo>
                    <a:pt x="4133850" y="0"/>
                  </a:lnTo>
                  <a:lnTo>
                    <a:pt x="0" y="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80987" y="2386075"/>
              <a:ext cx="4200525" cy="1181100"/>
            </a:xfrm>
            <a:custGeom>
              <a:avLst/>
              <a:gdLst/>
              <a:ahLst/>
              <a:cxnLst/>
              <a:rect l="l" t="t" r="r" b="b"/>
              <a:pathLst>
                <a:path w="4200525" h="1181100">
                  <a:moveTo>
                    <a:pt x="0" y="1181100"/>
                  </a:moveTo>
                  <a:lnTo>
                    <a:pt x="4200525" y="1181100"/>
                  </a:lnTo>
                  <a:lnTo>
                    <a:pt x="4200525" y="0"/>
                  </a:lnTo>
                  <a:lnTo>
                    <a:pt x="0" y="0"/>
                  </a:lnTo>
                  <a:lnTo>
                    <a:pt x="0" y="1181100"/>
                  </a:lnTo>
                  <a:close/>
                </a:path>
              </a:pathLst>
            </a:custGeom>
            <a:ln w="12700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80987" y="2386075"/>
              <a:ext cx="66675" cy="1181100"/>
            </a:xfrm>
            <a:custGeom>
              <a:avLst/>
              <a:gdLst/>
              <a:ahLst/>
              <a:cxnLst/>
              <a:rect l="l" t="t" r="r" b="b"/>
              <a:pathLst>
                <a:path w="66675" h="1181100">
                  <a:moveTo>
                    <a:pt x="66675" y="0"/>
                  </a:moveTo>
                  <a:lnTo>
                    <a:pt x="0" y="0"/>
                  </a:lnTo>
                  <a:lnTo>
                    <a:pt x="0" y="1181100"/>
                  </a:lnTo>
                  <a:lnTo>
                    <a:pt x="66675" y="118110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80987" y="2386075"/>
              <a:ext cx="66675" cy="1181100"/>
            </a:xfrm>
            <a:custGeom>
              <a:avLst/>
              <a:gdLst/>
              <a:ahLst/>
              <a:cxnLst/>
              <a:rect l="l" t="t" r="r" b="b"/>
              <a:pathLst>
                <a:path w="66675" h="1181100">
                  <a:moveTo>
                    <a:pt x="0" y="1181100"/>
                  </a:moveTo>
                  <a:lnTo>
                    <a:pt x="66675" y="1181100"/>
                  </a:lnTo>
                  <a:lnTo>
                    <a:pt x="66675" y="0"/>
                  </a:lnTo>
                  <a:lnTo>
                    <a:pt x="0" y="0"/>
                  </a:lnTo>
                  <a:lnTo>
                    <a:pt x="0" y="1181100"/>
                  </a:lnTo>
                  <a:close/>
                </a:path>
              </a:pathLst>
            </a:custGeom>
            <a:ln w="12700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8625" y="2447861"/>
              <a:ext cx="423862" cy="357187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354012" y="2493962"/>
            <a:ext cx="4121150" cy="7918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437515">
              <a:lnSpc>
                <a:spcPct val="100000"/>
              </a:lnSpc>
              <a:spcBef>
                <a:spcPts val="125"/>
              </a:spcBef>
            </a:pPr>
            <a:r>
              <a:rPr dirty="0" sz="1250" b="1">
                <a:solidFill>
                  <a:srgbClr val="7B39EC"/>
                </a:solidFill>
                <a:latin typeface="Calibri"/>
                <a:cs typeface="Calibri"/>
              </a:rPr>
              <a:t>Login</a:t>
            </a:r>
            <a:r>
              <a:rPr dirty="0" sz="1250" spc="130" b="1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7B39EC"/>
                </a:solidFill>
                <a:latin typeface="Calibri"/>
                <a:cs typeface="Calibri"/>
              </a:rPr>
              <a:t>System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250">
              <a:latin typeface="Calibri"/>
              <a:cs typeface="Calibri"/>
            </a:endParaRPr>
          </a:p>
          <a:p>
            <a:pPr marL="176530">
              <a:lnSpc>
                <a:spcPct val="100000"/>
              </a:lnSpc>
            </a:pP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Register</a:t>
            </a:r>
            <a:r>
              <a:rPr dirty="0" sz="950" spc="3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and</a:t>
            </a:r>
            <a:r>
              <a:rPr dirty="0" sz="950" spc="12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login</a:t>
            </a:r>
            <a:r>
              <a:rPr dirty="0" sz="950" spc="12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with</a:t>
            </a:r>
            <a:r>
              <a:rPr dirty="0" sz="950" spc="114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2C2C"/>
                </a:solidFill>
                <a:latin typeface="Calibri"/>
                <a:cs typeface="Calibri"/>
              </a:rPr>
              <a:t>username/password</a:t>
            </a:r>
            <a:endParaRPr sz="950">
              <a:latin typeface="Calibri"/>
              <a:cs typeface="Calibri"/>
            </a:endParaRPr>
          </a:p>
          <a:p>
            <a:pPr marL="176530">
              <a:lnSpc>
                <a:spcPct val="100000"/>
              </a:lnSpc>
              <a:spcBef>
                <a:spcPts val="65"/>
              </a:spcBef>
            </a:pP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LocalStorage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persistence</a:t>
            </a:r>
            <a:r>
              <a:rPr dirty="0" sz="950" spc="8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—</a:t>
            </a:r>
            <a:r>
              <a:rPr dirty="0" sz="950" spc="6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stays</a:t>
            </a:r>
            <a:r>
              <a:rPr dirty="0" sz="950" spc="4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logged</a:t>
            </a:r>
            <a:r>
              <a:rPr dirty="0" sz="950" spc="6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in</a:t>
            </a:r>
            <a:r>
              <a:rPr dirty="0" sz="950" spc="6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after</a:t>
            </a:r>
            <a:r>
              <a:rPr dirty="0" sz="950" spc="8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2C2C"/>
                </a:solidFill>
                <a:latin typeface="Calibri"/>
                <a:cs typeface="Calibri"/>
              </a:rPr>
              <a:t>refresh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562475" y="2295651"/>
            <a:ext cx="4443730" cy="1414780"/>
            <a:chOff x="4562475" y="2295651"/>
            <a:chExt cx="4443730" cy="1414780"/>
          </a:xfrm>
        </p:grpSpPr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62475" y="2295651"/>
              <a:ext cx="4443476" cy="1414399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786375" y="2386075"/>
              <a:ext cx="4133850" cy="1181100"/>
            </a:xfrm>
            <a:custGeom>
              <a:avLst/>
              <a:gdLst/>
              <a:ahLst/>
              <a:cxnLst/>
              <a:rect l="l" t="t" r="r" b="b"/>
              <a:pathLst>
                <a:path w="4133850" h="1181100">
                  <a:moveTo>
                    <a:pt x="0" y="1181100"/>
                  </a:moveTo>
                  <a:lnTo>
                    <a:pt x="4133850" y="1181100"/>
                  </a:lnTo>
                  <a:lnTo>
                    <a:pt x="4133850" y="0"/>
                  </a:lnTo>
                  <a:lnTo>
                    <a:pt x="0" y="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710176" y="2386075"/>
              <a:ext cx="4210050" cy="1181100"/>
            </a:xfrm>
            <a:custGeom>
              <a:avLst/>
              <a:gdLst/>
              <a:ahLst/>
              <a:cxnLst/>
              <a:rect l="l" t="t" r="r" b="b"/>
              <a:pathLst>
                <a:path w="4210050" h="1181100">
                  <a:moveTo>
                    <a:pt x="0" y="1181100"/>
                  </a:moveTo>
                  <a:lnTo>
                    <a:pt x="4210050" y="1181100"/>
                  </a:lnTo>
                  <a:lnTo>
                    <a:pt x="4210050" y="0"/>
                  </a:lnTo>
                  <a:lnTo>
                    <a:pt x="0" y="0"/>
                  </a:lnTo>
                  <a:lnTo>
                    <a:pt x="0" y="1181100"/>
                  </a:lnTo>
                  <a:close/>
                </a:path>
              </a:pathLst>
            </a:custGeom>
            <a:ln w="12700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710176" y="2386075"/>
              <a:ext cx="76200" cy="1181100"/>
            </a:xfrm>
            <a:custGeom>
              <a:avLst/>
              <a:gdLst/>
              <a:ahLst/>
              <a:cxnLst/>
              <a:rect l="l" t="t" r="r" b="b"/>
              <a:pathLst>
                <a:path w="76200" h="1181100">
                  <a:moveTo>
                    <a:pt x="76200" y="0"/>
                  </a:moveTo>
                  <a:lnTo>
                    <a:pt x="0" y="0"/>
                  </a:lnTo>
                  <a:lnTo>
                    <a:pt x="0" y="1181100"/>
                  </a:lnTo>
                  <a:lnTo>
                    <a:pt x="76200" y="11811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495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710176" y="2386075"/>
              <a:ext cx="76200" cy="1181100"/>
            </a:xfrm>
            <a:custGeom>
              <a:avLst/>
              <a:gdLst/>
              <a:ahLst/>
              <a:cxnLst/>
              <a:rect l="l" t="t" r="r" b="b"/>
              <a:pathLst>
                <a:path w="76200" h="1181100">
                  <a:moveTo>
                    <a:pt x="0" y="1181100"/>
                  </a:moveTo>
                  <a:lnTo>
                    <a:pt x="76200" y="1181100"/>
                  </a:lnTo>
                  <a:lnTo>
                    <a:pt x="76200" y="0"/>
                  </a:lnTo>
                  <a:lnTo>
                    <a:pt x="0" y="0"/>
                  </a:lnTo>
                  <a:lnTo>
                    <a:pt x="0" y="1181100"/>
                  </a:lnTo>
                  <a:close/>
                </a:path>
              </a:pathLst>
            </a:custGeom>
            <a:ln w="12700">
              <a:solidFill>
                <a:srgbClr val="04956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57750" y="2447861"/>
              <a:ext cx="433387" cy="357187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4710176" y="2493962"/>
            <a:ext cx="4203700" cy="7918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20700">
              <a:lnSpc>
                <a:spcPct val="100000"/>
              </a:lnSpc>
              <a:spcBef>
                <a:spcPts val="125"/>
              </a:spcBef>
            </a:pPr>
            <a:r>
              <a:rPr dirty="0" sz="1250" b="1">
                <a:solidFill>
                  <a:srgbClr val="049569"/>
                </a:solidFill>
                <a:latin typeface="Calibri"/>
                <a:cs typeface="Calibri"/>
              </a:rPr>
              <a:t>Currency</a:t>
            </a:r>
            <a:r>
              <a:rPr dirty="0" sz="1250" spc="130" b="1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dirty="0" sz="1250" spc="-25" b="1">
                <a:solidFill>
                  <a:srgbClr val="049569"/>
                </a:solidFill>
                <a:latin typeface="Calibri"/>
                <a:cs typeface="Calibri"/>
              </a:rPr>
              <a:t>API</a:t>
            </a:r>
            <a:endParaRPr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250">
              <a:latin typeface="Calibri"/>
              <a:cs typeface="Calibri"/>
            </a:endParaRPr>
          </a:p>
          <a:p>
            <a:pPr marL="260350">
              <a:lnSpc>
                <a:spcPct val="100000"/>
              </a:lnSpc>
            </a:pP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Prices</a:t>
            </a:r>
            <a:r>
              <a:rPr dirty="0" sz="950" spc="6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shown</a:t>
            </a:r>
            <a:r>
              <a:rPr dirty="0" sz="950" spc="9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in</a:t>
            </a:r>
            <a:r>
              <a:rPr dirty="0" sz="950" spc="9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both</a:t>
            </a:r>
            <a:r>
              <a:rPr dirty="0" sz="950" spc="9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PKR</a:t>
            </a:r>
            <a:r>
              <a:rPr dirty="0" sz="950" spc="6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and</a:t>
            </a:r>
            <a:r>
              <a:rPr dirty="0" sz="950" spc="9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-25">
                <a:solidFill>
                  <a:srgbClr val="2C2C2C"/>
                </a:solidFill>
                <a:latin typeface="Calibri"/>
                <a:cs typeface="Calibri"/>
              </a:rPr>
              <a:t>EUR</a:t>
            </a:r>
            <a:endParaRPr sz="950">
              <a:latin typeface="Calibri"/>
              <a:cs typeface="Calibri"/>
            </a:endParaRPr>
          </a:p>
          <a:p>
            <a:pPr marL="260350">
              <a:lnSpc>
                <a:spcPct val="100000"/>
              </a:lnSpc>
              <a:spcBef>
                <a:spcPts val="65"/>
              </a:spcBef>
            </a:pP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Live</a:t>
            </a:r>
            <a:r>
              <a:rPr dirty="0" sz="950" spc="5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Exchange</a:t>
            </a:r>
            <a:r>
              <a:rPr dirty="0" sz="950" spc="15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Rate</a:t>
            </a:r>
            <a:r>
              <a:rPr dirty="0" sz="950" spc="5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API</a:t>
            </a:r>
            <a:r>
              <a:rPr dirty="0" sz="950" spc="7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conversion</a:t>
            </a:r>
            <a:r>
              <a:rPr dirty="0" sz="950" spc="12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on</a:t>
            </a:r>
            <a:r>
              <a:rPr dirty="0" sz="950" spc="12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every</a:t>
            </a:r>
            <a:r>
              <a:rPr dirty="0" sz="950" spc="114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2C2C2C"/>
                </a:solidFill>
                <a:latin typeface="Calibri"/>
                <a:cs typeface="Calibri"/>
              </a:rPr>
              <a:t>load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33350" y="3619563"/>
            <a:ext cx="4434205" cy="1424305"/>
            <a:chOff x="133350" y="3619563"/>
            <a:chExt cx="4434205" cy="1424305"/>
          </a:xfrm>
        </p:grpSpPr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350" y="3619563"/>
              <a:ext cx="4433951" cy="1423924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47662" y="3709987"/>
              <a:ext cx="4133850" cy="1047750"/>
            </a:xfrm>
            <a:custGeom>
              <a:avLst/>
              <a:gdLst/>
              <a:ahLst/>
              <a:cxnLst/>
              <a:rect l="l" t="t" r="r" b="b"/>
              <a:pathLst>
                <a:path w="4133850" h="1047750">
                  <a:moveTo>
                    <a:pt x="0" y="1047750"/>
                  </a:moveTo>
                  <a:lnTo>
                    <a:pt x="4133850" y="1047750"/>
                  </a:lnTo>
                  <a:lnTo>
                    <a:pt x="4133850" y="0"/>
                  </a:lnTo>
                  <a:lnTo>
                    <a:pt x="0" y="0"/>
                  </a:lnTo>
                  <a:lnTo>
                    <a:pt x="0" y="10477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80987" y="3709987"/>
              <a:ext cx="4200525" cy="1190625"/>
            </a:xfrm>
            <a:custGeom>
              <a:avLst/>
              <a:gdLst/>
              <a:ahLst/>
              <a:cxnLst/>
              <a:rect l="l" t="t" r="r" b="b"/>
              <a:pathLst>
                <a:path w="4200525" h="1190625">
                  <a:moveTo>
                    <a:pt x="0" y="1190625"/>
                  </a:moveTo>
                  <a:lnTo>
                    <a:pt x="4200525" y="1190625"/>
                  </a:lnTo>
                  <a:lnTo>
                    <a:pt x="4200525" y="0"/>
                  </a:lnTo>
                  <a:lnTo>
                    <a:pt x="0" y="0"/>
                  </a:lnTo>
                  <a:lnTo>
                    <a:pt x="0" y="1190625"/>
                  </a:lnTo>
                  <a:close/>
                </a:path>
              </a:pathLst>
            </a:custGeom>
            <a:ln w="12700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80987" y="3709987"/>
              <a:ext cx="66675" cy="1047750"/>
            </a:xfrm>
            <a:custGeom>
              <a:avLst/>
              <a:gdLst/>
              <a:ahLst/>
              <a:cxnLst/>
              <a:rect l="l" t="t" r="r" b="b"/>
              <a:pathLst>
                <a:path w="66675" h="1047750">
                  <a:moveTo>
                    <a:pt x="0" y="1047750"/>
                  </a:moveTo>
                  <a:lnTo>
                    <a:pt x="66675" y="1047750"/>
                  </a:lnTo>
                  <a:lnTo>
                    <a:pt x="66675" y="0"/>
                  </a:lnTo>
                  <a:lnTo>
                    <a:pt x="0" y="0"/>
                  </a:lnTo>
                  <a:lnTo>
                    <a:pt x="0" y="1047750"/>
                  </a:lnTo>
                  <a:close/>
                </a:path>
              </a:pathLst>
            </a:custGeom>
            <a:solidFill>
              <a:srgbClr val="D9770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80987" y="3709987"/>
              <a:ext cx="66675" cy="1190625"/>
            </a:xfrm>
            <a:custGeom>
              <a:avLst/>
              <a:gdLst/>
              <a:ahLst/>
              <a:cxnLst/>
              <a:rect l="l" t="t" r="r" b="b"/>
              <a:pathLst>
                <a:path w="66675" h="1190625">
                  <a:moveTo>
                    <a:pt x="0" y="1190625"/>
                  </a:moveTo>
                  <a:lnTo>
                    <a:pt x="66675" y="1190625"/>
                  </a:lnTo>
                  <a:lnTo>
                    <a:pt x="66675" y="0"/>
                  </a:lnTo>
                  <a:lnTo>
                    <a:pt x="0" y="0"/>
                  </a:lnTo>
                  <a:lnTo>
                    <a:pt x="0" y="1190625"/>
                  </a:lnTo>
                  <a:close/>
                </a:path>
              </a:pathLst>
            </a:custGeom>
            <a:ln w="12700">
              <a:solidFill>
                <a:srgbClr val="D9770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8625" y="3771900"/>
              <a:ext cx="423862" cy="357187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778827" y="3822382"/>
            <a:ext cx="585470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10" b="1">
                <a:solidFill>
                  <a:srgbClr val="D97705"/>
                </a:solidFill>
                <a:latin typeface="Calibri"/>
                <a:cs typeface="Calibri"/>
              </a:rPr>
              <a:t>Reviews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18159" y="4286250"/>
            <a:ext cx="2117090" cy="3276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Add</a:t>
            </a:r>
            <a:r>
              <a:rPr dirty="0" sz="950" spc="8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reviews</a:t>
            </a:r>
            <a:r>
              <a:rPr dirty="0" sz="950" spc="7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with</a:t>
            </a:r>
            <a:r>
              <a:rPr dirty="0" sz="950" spc="9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1-5</a:t>
            </a:r>
            <a:r>
              <a:rPr dirty="0" sz="950" spc="12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star</a:t>
            </a:r>
            <a:r>
              <a:rPr dirty="0" sz="950" spc="13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2C2C"/>
                </a:solidFill>
                <a:latin typeface="Calibri"/>
                <a:cs typeface="Calibri"/>
              </a:rPr>
              <a:t>rating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Product</a:t>
            </a:r>
            <a:r>
              <a:rPr dirty="0" sz="950" spc="18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name</a:t>
            </a:r>
            <a:r>
              <a:rPr dirty="0" sz="950" spc="5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shown</a:t>
            </a:r>
            <a:r>
              <a:rPr dirty="0" sz="950" spc="12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via</a:t>
            </a:r>
            <a:r>
              <a:rPr dirty="0" sz="950" spc="8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SQL</a:t>
            </a:r>
            <a:r>
              <a:rPr dirty="0" sz="950" spc="5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JOIN</a:t>
            </a:r>
            <a:r>
              <a:rPr dirty="0" sz="950" spc="6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2C2C2C"/>
                </a:solidFill>
                <a:latin typeface="Calibri"/>
                <a:cs typeface="Calibri"/>
              </a:rPr>
              <a:t>query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562475" y="3619563"/>
            <a:ext cx="4443730" cy="1424305"/>
            <a:chOff x="4562475" y="3619563"/>
            <a:chExt cx="4443730" cy="1424305"/>
          </a:xfrm>
        </p:grpSpPr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62475" y="3619563"/>
              <a:ext cx="4443476" cy="1423924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4786375" y="3709987"/>
              <a:ext cx="4133850" cy="1047750"/>
            </a:xfrm>
            <a:custGeom>
              <a:avLst/>
              <a:gdLst/>
              <a:ahLst/>
              <a:cxnLst/>
              <a:rect l="l" t="t" r="r" b="b"/>
              <a:pathLst>
                <a:path w="4133850" h="1047750">
                  <a:moveTo>
                    <a:pt x="0" y="1047750"/>
                  </a:moveTo>
                  <a:lnTo>
                    <a:pt x="4133850" y="1047750"/>
                  </a:lnTo>
                  <a:lnTo>
                    <a:pt x="4133850" y="0"/>
                  </a:lnTo>
                  <a:lnTo>
                    <a:pt x="0" y="0"/>
                  </a:lnTo>
                  <a:lnTo>
                    <a:pt x="0" y="10477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4710176" y="3709987"/>
              <a:ext cx="4210050" cy="1190625"/>
            </a:xfrm>
            <a:custGeom>
              <a:avLst/>
              <a:gdLst/>
              <a:ahLst/>
              <a:cxnLst/>
              <a:rect l="l" t="t" r="r" b="b"/>
              <a:pathLst>
                <a:path w="4210050" h="1190625">
                  <a:moveTo>
                    <a:pt x="0" y="1190625"/>
                  </a:moveTo>
                  <a:lnTo>
                    <a:pt x="4210050" y="1190625"/>
                  </a:lnTo>
                  <a:lnTo>
                    <a:pt x="4210050" y="0"/>
                  </a:lnTo>
                  <a:lnTo>
                    <a:pt x="0" y="0"/>
                  </a:lnTo>
                  <a:lnTo>
                    <a:pt x="0" y="1190625"/>
                  </a:lnTo>
                  <a:close/>
                </a:path>
              </a:pathLst>
            </a:custGeom>
            <a:ln w="12700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4710176" y="3709987"/>
              <a:ext cx="76200" cy="1047750"/>
            </a:xfrm>
            <a:custGeom>
              <a:avLst/>
              <a:gdLst/>
              <a:ahLst/>
              <a:cxnLst/>
              <a:rect l="l" t="t" r="r" b="b"/>
              <a:pathLst>
                <a:path w="76200" h="1047750">
                  <a:moveTo>
                    <a:pt x="0" y="1047750"/>
                  </a:moveTo>
                  <a:lnTo>
                    <a:pt x="76200" y="1047750"/>
                  </a:lnTo>
                  <a:lnTo>
                    <a:pt x="76200" y="0"/>
                  </a:lnTo>
                  <a:lnTo>
                    <a:pt x="0" y="0"/>
                  </a:lnTo>
                  <a:lnTo>
                    <a:pt x="0" y="1047750"/>
                  </a:lnTo>
                  <a:close/>
                </a:path>
              </a:pathLst>
            </a:custGeom>
            <a:solidFill>
              <a:srgbClr val="DC25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4710176" y="3709987"/>
              <a:ext cx="76200" cy="1190625"/>
            </a:xfrm>
            <a:custGeom>
              <a:avLst/>
              <a:gdLst/>
              <a:ahLst/>
              <a:cxnLst/>
              <a:rect l="l" t="t" r="r" b="b"/>
              <a:pathLst>
                <a:path w="76200" h="1190625">
                  <a:moveTo>
                    <a:pt x="0" y="1190625"/>
                  </a:moveTo>
                  <a:lnTo>
                    <a:pt x="76200" y="1190625"/>
                  </a:lnTo>
                  <a:lnTo>
                    <a:pt x="76200" y="0"/>
                  </a:lnTo>
                  <a:lnTo>
                    <a:pt x="0" y="0"/>
                  </a:lnTo>
                  <a:lnTo>
                    <a:pt x="0" y="1190625"/>
                  </a:lnTo>
                  <a:close/>
                </a:path>
              </a:pathLst>
            </a:custGeom>
            <a:ln w="12700">
              <a:solidFill>
                <a:srgbClr val="DC252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57750" y="3771900"/>
              <a:ext cx="433387" cy="357187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5218176" y="3822382"/>
            <a:ext cx="578485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-10" b="1">
                <a:solidFill>
                  <a:srgbClr val="DC2525"/>
                </a:solidFill>
                <a:latin typeface="Calibri"/>
                <a:cs typeface="Calibri"/>
              </a:rPr>
              <a:t>Wishlist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957826" y="4286250"/>
            <a:ext cx="2559050" cy="3276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Save</a:t>
            </a:r>
            <a:r>
              <a:rPr dirty="0" sz="950" spc="7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products</a:t>
            </a:r>
            <a:r>
              <a:rPr dirty="0" sz="950" spc="12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to</a:t>
            </a:r>
            <a:r>
              <a:rPr dirty="0" sz="950" spc="15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personal</a:t>
            </a:r>
            <a:r>
              <a:rPr dirty="0" sz="950" spc="13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2C2C"/>
                </a:solidFill>
                <a:latin typeface="Calibri"/>
                <a:cs typeface="Calibri"/>
              </a:rPr>
              <a:t>wishlist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Toggleable</a:t>
            </a:r>
            <a:r>
              <a:rPr dirty="0" sz="950" spc="15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table</a:t>
            </a:r>
            <a:r>
              <a:rPr dirty="0" sz="950" spc="5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with</a:t>
            </a:r>
            <a:r>
              <a:rPr dirty="0" sz="950" spc="11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product</a:t>
            </a:r>
            <a:r>
              <a:rPr dirty="0" sz="950" spc="6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name</a:t>
            </a:r>
            <a:r>
              <a:rPr dirty="0" sz="950" spc="15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via</a:t>
            </a:r>
            <a:r>
              <a:rPr dirty="0" sz="950" spc="8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SQL</a:t>
            </a:r>
            <a:r>
              <a:rPr dirty="0" sz="950" spc="15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2C2C2C"/>
                </a:solidFill>
                <a:latin typeface="Calibri"/>
                <a:cs typeface="Calibri"/>
              </a:rPr>
              <a:t>JOIN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-1586" y="4751387"/>
            <a:ext cx="9152255" cy="398780"/>
            <a:chOff x="-1586" y="4751387"/>
            <a:chExt cx="9152255" cy="398780"/>
          </a:xfrm>
        </p:grpSpPr>
        <p:sp>
          <p:nvSpPr>
            <p:cNvPr id="56" name="object 56"/>
            <p:cNvSpPr/>
            <p:nvPr/>
          </p:nvSpPr>
          <p:spPr>
            <a:xfrm>
              <a:off x="4763" y="4757737"/>
              <a:ext cx="9139555" cy="386080"/>
            </a:xfrm>
            <a:custGeom>
              <a:avLst/>
              <a:gdLst/>
              <a:ahLst/>
              <a:cxnLst/>
              <a:rect l="l" t="t" r="r" b="b"/>
              <a:pathLst>
                <a:path w="9139555" h="386079">
                  <a:moveTo>
                    <a:pt x="9139236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9139236" y="385762"/>
                  </a:lnTo>
                  <a:lnTo>
                    <a:pt x="9139236" y="0"/>
                  </a:lnTo>
                  <a:close/>
                </a:path>
              </a:pathLst>
            </a:custGeom>
            <a:solidFill>
              <a:srgbClr val="7B2C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4763" y="4757737"/>
              <a:ext cx="9139555" cy="386080"/>
            </a:xfrm>
            <a:custGeom>
              <a:avLst/>
              <a:gdLst/>
              <a:ahLst/>
              <a:cxnLst/>
              <a:rect l="l" t="t" r="r" b="b"/>
              <a:pathLst>
                <a:path w="9139555" h="386079">
                  <a:moveTo>
                    <a:pt x="9139236" y="0"/>
                  </a:moveTo>
                  <a:lnTo>
                    <a:pt x="0" y="0"/>
                  </a:lnTo>
                  <a:lnTo>
                    <a:pt x="0" y="385762"/>
                  </a:lnTo>
                </a:path>
              </a:pathLst>
            </a:custGeom>
            <a:ln w="12700">
              <a:solidFill>
                <a:srgbClr val="7B2C6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pc="-10"/>
              <a:t>MasarratCare</a:t>
            </a:r>
            <a:r>
              <a:rPr dirty="0" spc="-50"/>
              <a:t> </a:t>
            </a:r>
            <a:r>
              <a:rPr dirty="0"/>
              <a:t>|</a:t>
            </a:r>
            <a:r>
              <a:rPr dirty="0" spc="-10"/>
              <a:t> </a:t>
            </a:r>
            <a:r>
              <a:rPr dirty="0"/>
              <a:t>Syed</a:t>
            </a:r>
            <a:r>
              <a:rPr dirty="0" spc="5"/>
              <a:t> </a:t>
            </a:r>
            <a:r>
              <a:rPr dirty="0"/>
              <a:t>Mubashir</a:t>
            </a:r>
            <a:r>
              <a:rPr dirty="0" spc="15"/>
              <a:t> </a:t>
            </a:r>
            <a:r>
              <a:rPr dirty="0"/>
              <a:t>Ahmed</a:t>
            </a:r>
            <a:r>
              <a:rPr dirty="0" spc="10"/>
              <a:t> </a:t>
            </a:r>
            <a:r>
              <a:rPr dirty="0" spc="-10"/>
              <a:t>Hashmi</a:t>
            </a:r>
            <a:r>
              <a:rPr dirty="0" spc="-35"/>
              <a:t> </a:t>
            </a:r>
            <a:r>
              <a:rPr dirty="0"/>
              <a:t>|</a:t>
            </a:r>
            <a:r>
              <a:rPr dirty="0" spc="-10"/>
              <a:t> 20089221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6172" sz="5400" spc="-44">
                <a:solidFill>
                  <a:srgbClr val="B54689"/>
                </a:solidFill>
              </a:rPr>
              <a:t>05</a:t>
            </a:r>
            <a:r>
              <a:rPr dirty="0" baseline="-6172" sz="5400" spc="-465">
                <a:solidFill>
                  <a:srgbClr val="B54689"/>
                </a:solidFill>
              </a:rPr>
              <a:t> </a:t>
            </a:r>
            <a:r>
              <a:rPr dirty="0" sz="2400" spc="-10"/>
              <a:t>Testing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133350" y="961961"/>
            <a:ext cx="2795905" cy="3710304"/>
            <a:chOff x="133350" y="961961"/>
            <a:chExt cx="2795905" cy="371030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350" y="961961"/>
              <a:ext cx="2795651" cy="371005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80987" y="1052512"/>
              <a:ext cx="2562225" cy="3476625"/>
            </a:xfrm>
            <a:custGeom>
              <a:avLst/>
              <a:gdLst/>
              <a:ahLst/>
              <a:cxnLst/>
              <a:rect l="l" t="t" r="r" b="b"/>
              <a:pathLst>
                <a:path w="2562225" h="3476625">
                  <a:moveTo>
                    <a:pt x="2562225" y="0"/>
                  </a:moveTo>
                  <a:lnTo>
                    <a:pt x="0" y="0"/>
                  </a:lnTo>
                  <a:lnTo>
                    <a:pt x="0" y="3476625"/>
                  </a:lnTo>
                  <a:lnTo>
                    <a:pt x="2562225" y="3476625"/>
                  </a:lnTo>
                  <a:lnTo>
                    <a:pt x="2562225" y="0"/>
                  </a:lnTo>
                  <a:close/>
                </a:path>
              </a:pathLst>
            </a:custGeom>
            <a:solidFill>
              <a:srgbClr val="B5468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33550" y="2990786"/>
              <a:ext cx="528637" cy="44291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74637" y="1046162"/>
            <a:ext cx="2574925" cy="3489325"/>
          </a:xfrm>
          <a:prstGeom prst="rect">
            <a:avLst/>
          </a:prstGeom>
          <a:ln w="3175">
            <a:solidFill>
              <a:srgbClr val="B54689"/>
            </a:solidFill>
          </a:ln>
        </p:spPr>
        <p:txBody>
          <a:bodyPr wrap="square" lIns="0" tIns="3454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720"/>
              </a:spcBef>
            </a:pPr>
            <a:r>
              <a:rPr dirty="0" sz="8050" spc="-25" b="1">
                <a:solidFill>
                  <a:srgbClr val="FFFFFF"/>
                </a:solidFill>
                <a:latin typeface="Trebuchet MS"/>
                <a:cs typeface="Trebuchet MS"/>
              </a:rPr>
              <a:t>18</a:t>
            </a:r>
            <a:endParaRPr sz="8050">
              <a:latin typeface="Trebuchet MS"/>
              <a:cs typeface="Trebuchet MS"/>
            </a:endParaRPr>
          </a:p>
          <a:p>
            <a:pPr marL="698500" marR="1025525" indent="375920">
              <a:lnSpc>
                <a:spcPct val="105000"/>
              </a:lnSpc>
              <a:spcBef>
                <a:spcPts val="1485"/>
              </a:spcBef>
            </a:pPr>
            <a:r>
              <a:rPr dirty="0" sz="1550" spc="-10" b="1">
                <a:solidFill>
                  <a:srgbClr val="FFFFFF"/>
                </a:solidFill>
                <a:latin typeface="Calibri"/>
                <a:cs typeface="Calibri"/>
              </a:rPr>
              <a:t>Tests </a:t>
            </a:r>
            <a:r>
              <a:rPr dirty="0" sz="1550" b="1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dirty="0" sz="1550" spc="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50" spc="-10" b="1">
                <a:solidFill>
                  <a:srgbClr val="FFFFFF"/>
                </a:solidFill>
                <a:latin typeface="Calibri"/>
                <a:cs typeface="Calibri"/>
              </a:rPr>
              <a:t>Passed</a:t>
            </a:r>
            <a:endParaRPr sz="1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40"/>
              </a:spcBef>
            </a:pPr>
            <a:endParaRPr sz="15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200" spc="-10" i="1">
                <a:solidFill>
                  <a:srgbClr val="F8D4EB"/>
                </a:solidFill>
                <a:latin typeface="Calibri"/>
                <a:cs typeface="Calibri"/>
              </a:rPr>
              <a:t>0.18s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962275" y="961897"/>
            <a:ext cx="5996305" cy="1881505"/>
            <a:chOff x="2962275" y="961897"/>
            <a:chExt cx="5996305" cy="188150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62275" y="961897"/>
              <a:ext cx="5996051" cy="188125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109976" y="1424050"/>
              <a:ext cx="5762625" cy="1276350"/>
            </a:xfrm>
            <a:custGeom>
              <a:avLst/>
              <a:gdLst/>
              <a:ahLst/>
              <a:cxnLst/>
              <a:rect l="l" t="t" r="r" b="b"/>
              <a:pathLst>
                <a:path w="5762625" h="1276350">
                  <a:moveTo>
                    <a:pt x="0" y="1276350"/>
                  </a:moveTo>
                  <a:lnTo>
                    <a:pt x="5762625" y="1276350"/>
                  </a:lnTo>
                  <a:lnTo>
                    <a:pt x="5762625" y="0"/>
                  </a:lnTo>
                  <a:lnTo>
                    <a:pt x="0" y="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109976" y="1052575"/>
              <a:ext cx="5762625" cy="1647825"/>
            </a:xfrm>
            <a:custGeom>
              <a:avLst/>
              <a:gdLst/>
              <a:ahLst/>
              <a:cxnLst/>
              <a:rect l="l" t="t" r="r" b="b"/>
              <a:pathLst>
                <a:path w="5762625" h="1647825">
                  <a:moveTo>
                    <a:pt x="0" y="1647825"/>
                  </a:moveTo>
                  <a:lnTo>
                    <a:pt x="5762625" y="1647825"/>
                  </a:lnTo>
                  <a:lnTo>
                    <a:pt x="5762625" y="0"/>
                  </a:lnTo>
                  <a:lnTo>
                    <a:pt x="0" y="0"/>
                  </a:lnTo>
                  <a:lnTo>
                    <a:pt x="0" y="1647825"/>
                  </a:lnTo>
                  <a:close/>
                </a:path>
              </a:pathLst>
            </a:custGeom>
            <a:ln w="12700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3109976" y="1052575"/>
            <a:ext cx="5762625" cy="371475"/>
          </a:xfrm>
          <a:prstGeom prst="rect">
            <a:avLst/>
          </a:prstGeom>
          <a:solidFill>
            <a:srgbClr val="7B2C6B"/>
          </a:solidFill>
          <a:ln w="12700">
            <a:solidFill>
              <a:srgbClr val="7B2C6B"/>
            </a:solidFill>
          </a:ln>
        </p:spPr>
        <p:txBody>
          <a:bodyPr wrap="square" lIns="0" tIns="78740" rIns="0" bIns="0" rtlCol="0" vert="horz">
            <a:spAutoFit/>
          </a:bodyPr>
          <a:lstStyle/>
          <a:p>
            <a:pPr algn="ctr" marL="3810">
              <a:lnSpc>
                <a:spcPct val="100000"/>
              </a:lnSpc>
              <a:spcBef>
                <a:spcPts val="620"/>
              </a:spcBef>
            </a:pPr>
            <a:r>
              <a:rPr dirty="0" sz="1250" b="1">
                <a:solidFill>
                  <a:srgbClr val="FFFFFF"/>
                </a:solidFill>
                <a:latin typeface="Calibri"/>
                <a:cs typeface="Calibri"/>
              </a:rPr>
              <a:t>Unit</a:t>
            </a:r>
            <a:r>
              <a:rPr dirty="0" sz="1250" spc="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FFFFF"/>
                </a:solidFill>
                <a:latin typeface="Calibri"/>
                <a:cs typeface="Calibri"/>
              </a:rPr>
              <a:t>Tests</a:t>
            </a:r>
            <a:r>
              <a:rPr dirty="0" sz="1250" spc="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250" spc="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dirty="0" sz="1250" spc="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20" b="1">
                <a:solidFill>
                  <a:srgbClr val="FFFFFF"/>
                </a:solidFill>
                <a:latin typeface="Calibri"/>
                <a:cs typeface="Calibri"/>
              </a:rPr>
              <a:t>Files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95396" y="1504950"/>
            <a:ext cx="3166745" cy="1127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125"/>
              </a:spcBef>
              <a:buChar char="•"/>
              <a:tabLst>
                <a:tab pos="342900" algn="l"/>
              </a:tabLst>
            </a:pP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test_models_product.py</a:t>
            </a:r>
            <a:r>
              <a:rPr dirty="0" sz="950" spc="12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-</a:t>
            </a:r>
            <a:r>
              <a:rPr dirty="0" sz="950" spc="9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create,</a:t>
            </a:r>
            <a:r>
              <a:rPr dirty="0" sz="950" spc="6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read,</a:t>
            </a:r>
            <a:r>
              <a:rPr dirty="0" sz="950" spc="6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delete</a:t>
            </a:r>
            <a:r>
              <a:rPr dirty="0" sz="950" spc="4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2C2C"/>
                </a:solidFill>
                <a:latin typeface="Calibri"/>
                <a:cs typeface="Calibri"/>
              </a:rPr>
              <a:t>product</a:t>
            </a:r>
            <a:endParaRPr sz="95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735"/>
              </a:spcBef>
              <a:buChar char="•"/>
              <a:tabLst>
                <a:tab pos="342900" algn="l"/>
              </a:tabLst>
            </a:pP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test_models_shade.py</a:t>
            </a:r>
            <a:r>
              <a:rPr dirty="0" sz="950" spc="13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-</a:t>
            </a:r>
            <a:r>
              <a:rPr dirty="0" sz="950" spc="8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create,</a:t>
            </a:r>
            <a:r>
              <a:rPr dirty="0" sz="950" spc="5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read,</a:t>
            </a:r>
            <a:r>
              <a:rPr dirty="0" sz="950" spc="5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delete</a:t>
            </a:r>
            <a:r>
              <a:rPr dirty="0" sz="950" spc="2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2C2C2C"/>
                </a:solidFill>
                <a:latin typeface="Calibri"/>
                <a:cs typeface="Calibri"/>
              </a:rPr>
              <a:t>shade</a:t>
            </a:r>
            <a:endParaRPr sz="95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735"/>
              </a:spcBef>
              <a:buChar char="•"/>
              <a:tabLst>
                <a:tab pos="342900" algn="l"/>
              </a:tabLst>
            </a:pP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test_models_batch.py</a:t>
            </a:r>
            <a:r>
              <a:rPr dirty="0" sz="950" spc="5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-</a:t>
            </a:r>
            <a:r>
              <a:rPr dirty="0" sz="950" spc="7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genuine,</a:t>
            </a:r>
            <a:r>
              <a:rPr dirty="0" sz="950" spc="4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fake,</a:t>
            </a:r>
            <a:r>
              <a:rPr dirty="0" sz="950" spc="4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not</a:t>
            </a:r>
            <a:r>
              <a:rPr dirty="0" sz="950" spc="13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2C2C2C"/>
                </a:solidFill>
                <a:latin typeface="Calibri"/>
                <a:cs typeface="Calibri"/>
              </a:rPr>
              <a:t>found</a:t>
            </a:r>
            <a:endParaRPr sz="95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735"/>
              </a:spcBef>
              <a:buChar char="•"/>
              <a:tabLst>
                <a:tab pos="342900" algn="l"/>
              </a:tabLst>
            </a:pP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test_models_review.py</a:t>
            </a:r>
            <a:r>
              <a:rPr dirty="0" sz="950" spc="8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-</a:t>
            </a:r>
            <a:r>
              <a:rPr dirty="0" sz="950" spc="10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create,</a:t>
            </a:r>
            <a:r>
              <a:rPr dirty="0" sz="950" spc="7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read,</a:t>
            </a:r>
            <a:r>
              <a:rPr dirty="0" sz="950" spc="7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delete</a:t>
            </a:r>
            <a:r>
              <a:rPr dirty="0" sz="950" spc="4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2C2C"/>
                </a:solidFill>
                <a:latin typeface="Calibri"/>
                <a:cs typeface="Calibri"/>
              </a:rPr>
              <a:t>review</a:t>
            </a:r>
            <a:endParaRPr sz="95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735"/>
              </a:spcBef>
              <a:buChar char="•"/>
              <a:tabLst>
                <a:tab pos="342900" algn="l"/>
              </a:tabLst>
            </a:pP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test_models_wishlist.py</a:t>
            </a:r>
            <a:r>
              <a:rPr dirty="0" sz="950" spc="9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-</a:t>
            </a:r>
            <a:r>
              <a:rPr dirty="0" sz="950" spc="4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add,</a:t>
            </a:r>
            <a:r>
              <a:rPr dirty="0" sz="950" spc="9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get,</a:t>
            </a:r>
            <a:r>
              <a:rPr dirty="0" sz="950" spc="9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remove</a:t>
            </a:r>
            <a:r>
              <a:rPr dirty="0" sz="950" spc="2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2C2C"/>
                </a:solidFill>
                <a:latin typeface="Calibri"/>
                <a:cs typeface="Calibri"/>
              </a:rPr>
              <a:t>wishlist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962275" y="2752661"/>
            <a:ext cx="5996305" cy="1919605"/>
            <a:chOff x="2962275" y="2752661"/>
            <a:chExt cx="5996305" cy="1919605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62275" y="2752661"/>
              <a:ext cx="5996051" cy="191935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109976" y="3205225"/>
              <a:ext cx="5762625" cy="1323975"/>
            </a:xfrm>
            <a:custGeom>
              <a:avLst/>
              <a:gdLst/>
              <a:ahLst/>
              <a:cxnLst/>
              <a:rect l="l" t="t" r="r" b="b"/>
              <a:pathLst>
                <a:path w="5762625" h="1323975">
                  <a:moveTo>
                    <a:pt x="0" y="1323911"/>
                  </a:moveTo>
                  <a:lnTo>
                    <a:pt x="5762625" y="1323911"/>
                  </a:lnTo>
                  <a:lnTo>
                    <a:pt x="5762625" y="0"/>
                  </a:lnTo>
                  <a:lnTo>
                    <a:pt x="0" y="0"/>
                  </a:lnTo>
                  <a:lnTo>
                    <a:pt x="0" y="13239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109976" y="2843212"/>
              <a:ext cx="5762625" cy="1685925"/>
            </a:xfrm>
            <a:custGeom>
              <a:avLst/>
              <a:gdLst/>
              <a:ahLst/>
              <a:cxnLst/>
              <a:rect l="l" t="t" r="r" b="b"/>
              <a:pathLst>
                <a:path w="5762625" h="1685925">
                  <a:moveTo>
                    <a:pt x="0" y="1685925"/>
                  </a:moveTo>
                  <a:lnTo>
                    <a:pt x="5762625" y="1685925"/>
                  </a:lnTo>
                  <a:lnTo>
                    <a:pt x="5762625" y="0"/>
                  </a:lnTo>
                  <a:lnTo>
                    <a:pt x="0" y="0"/>
                  </a:lnTo>
                  <a:lnTo>
                    <a:pt x="0" y="1685925"/>
                  </a:lnTo>
                  <a:close/>
                </a:path>
              </a:pathLst>
            </a:custGeom>
            <a:ln w="12700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3109976" y="2843244"/>
            <a:ext cx="5762625" cy="362585"/>
          </a:xfrm>
          <a:prstGeom prst="rect">
            <a:avLst/>
          </a:prstGeom>
          <a:solidFill>
            <a:srgbClr val="049569"/>
          </a:solidFill>
          <a:ln w="12700">
            <a:solidFill>
              <a:srgbClr val="049569"/>
            </a:solidFill>
          </a:ln>
        </p:spPr>
        <p:txBody>
          <a:bodyPr wrap="square" lIns="0" tIns="74295" rIns="0" bIns="0" rtlCol="0" vert="horz">
            <a:spAutoFit/>
          </a:bodyPr>
          <a:lstStyle/>
          <a:p>
            <a:pPr algn="ctr" marL="6985">
              <a:lnSpc>
                <a:spcPct val="100000"/>
              </a:lnSpc>
              <a:spcBef>
                <a:spcPts val="585"/>
              </a:spcBef>
            </a:pPr>
            <a:r>
              <a:rPr dirty="0" sz="1250" b="1">
                <a:solidFill>
                  <a:srgbClr val="FFFFFF"/>
                </a:solidFill>
                <a:latin typeface="Calibri"/>
                <a:cs typeface="Calibri"/>
              </a:rPr>
              <a:t>Integration</a:t>
            </a:r>
            <a:r>
              <a:rPr dirty="0" sz="1250" spc="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FFFFFF"/>
                </a:solidFill>
                <a:latin typeface="Calibri"/>
                <a:cs typeface="Calibri"/>
              </a:rPr>
              <a:t>Test</a:t>
            </a:r>
            <a:r>
              <a:rPr dirty="0" sz="1250" spc="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1250" spc="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FFFFFF"/>
                </a:solidFill>
                <a:latin typeface="Calibri"/>
                <a:cs typeface="Calibri"/>
              </a:rPr>
              <a:t>test_ping.py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95396" y="3309620"/>
            <a:ext cx="2873375" cy="9988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125"/>
              </a:spcBef>
              <a:buChar char="•"/>
              <a:tabLst>
                <a:tab pos="342900" algn="l"/>
              </a:tabLst>
            </a:pP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Sends</a:t>
            </a:r>
            <a:r>
              <a:rPr dirty="0" sz="950" spc="7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real</a:t>
            </a:r>
            <a:r>
              <a:rPr dirty="0" sz="950" spc="9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HTTP</a:t>
            </a:r>
            <a:r>
              <a:rPr dirty="0" sz="950" spc="11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request</a:t>
            </a:r>
            <a:r>
              <a:rPr dirty="0" sz="950" spc="15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to</a:t>
            </a:r>
            <a:r>
              <a:rPr dirty="0" sz="950" spc="10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running</a:t>
            </a:r>
            <a:r>
              <a:rPr dirty="0" sz="950" spc="7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Flask</a:t>
            </a:r>
            <a:r>
              <a:rPr dirty="0" sz="950" spc="10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2C2C"/>
                </a:solidFill>
                <a:latin typeface="Calibri"/>
                <a:cs typeface="Calibri"/>
              </a:rPr>
              <a:t>server</a:t>
            </a:r>
            <a:endParaRPr sz="95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1019"/>
              </a:spcBef>
              <a:buChar char="•"/>
              <a:tabLst>
                <a:tab pos="342900" algn="l"/>
              </a:tabLst>
            </a:pP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Verifies</a:t>
            </a:r>
            <a:r>
              <a:rPr dirty="0" sz="950" spc="5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status</a:t>
            </a:r>
            <a:r>
              <a:rPr dirty="0" sz="950" spc="9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200</a:t>
            </a:r>
            <a:r>
              <a:rPr dirty="0" sz="950" spc="5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and</a:t>
            </a:r>
            <a:r>
              <a:rPr dirty="0" sz="950" spc="7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JSON</a:t>
            </a:r>
            <a:r>
              <a:rPr dirty="0" sz="950" spc="2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{message:</a:t>
            </a:r>
            <a:r>
              <a:rPr dirty="0" sz="950" spc="2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2C2C2C"/>
                </a:solidFill>
                <a:latin typeface="Calibri"/>
                <a:cs typeface="Calibri"/>
              </a:rPr>
              <a:t>pong}</a:t>
            </a:r>
            <a:endParaRPr sz="95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1025"/>
              </a:spcBef>
              <a:buChar char="•"/>
              <a:tabLst>
                <a:tab pos="342900" algn="l"/>
              </a:tabLst>
            </a:pP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Tests</a:t>
            </a:r>
            <a:r>
              <a:rPr dirty="0" sz="950" spc="6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GET</a:t>
            </a:r>
            <a:r>
              <a:rPr dirty="0" sz="950" spc="4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/products</a:t>
            </a:r>
            <a:r>
              <a:rPr dirty="0" sz="950" spc="17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returns</a:t>
            </a:r>
            <a:r>
              <a:rPr dirty="0" sz="950" spc="6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a</a:t>
            </a:r>
            <a:r>
              <a:rPr dirty="0" sz="950" spc="14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valid</a:t>
            </a:r>
            <a:r>
              <a:rPr dirty="0" sz="950" spc="9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2C2C2C"/>
                </a:solidFill>
                <a:latin typeface="Calibri"/>
                <a:cs typeface="Calibri"/>
              </a:rPr>
              <a:t>list</a:t>
            </a:r>
            <a:endParaRPr sz="95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1025"/>
              </a:spcBef>
              <a:buChar char="•"/>
              <a:tabLst>
                <a:tab pos="342900" algn="l"/>
              </a:tabLst>
            </a:pP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Confirms</a:t>
            </a:r>
            <a:r>
              <a:rPr dirty="0" sz="950" spc="229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frontend-to-backend</a:t>
            </a:r>
            <a:r>
              <a:rPr dirty="0" sz="950" spc="27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works</a:t>
            </a:r>
            <a:r>
              <a:rPr dirty="0" sz="950" spc="229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end-to-</a:t>
            </a:r>
            <a:r>
              <a:rPr dirty="0" sz="950" spc="-25">
                <a:solidFill>
                  <a:srgbClr val="2C2C2C"/>
                </a:solidFill>
                <a:latin typeface="Calibri"/>
                <a:cs typeface="Calibri"/>
              </a:rPr>
              <a:t>end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-1586" y="4751387"/>
            <a:ext cx="9152255" cy="398780"/>
            <a:chOff x="-1586" y="4751387"/>
            <a:chExt cx="9152255" cy="398780"/>
          </a:xfrm>
        </p:grpSpPr>
        <p:sp>
          <p:nvSpPr>
            <p:cNvPr id="21" name="object 21"/>
            <p:cNvSpPr/>
            <p:nvPr/>
          </p:nvSpPr>
          <p:spPr>
            <a:xfrm>
              <a:off x="4763" y="4757737"/>
              <a:ext cx="9139555" cy="386080"/>
            </a:xfrm>
            <a:custGeom>
              <a:avLst/>
              <a:gdLst/>
              <a:ahLst/>
              <a:cxnLst/>
              <a:rect l="l" t="t" r="r" b="b"/>
              <a:pathLst>
                <a:path w="9139555" h="386079">
                  <a:moveTo>
                    <a:pt x="9139236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9139236" y="385762"/>
                  </a:lnTo>
                  <a:lnTo>
                    <a:pt x="9139236" y="0"/>
                  </a:lnTo>
                  <a:close/>
                </a:path>
              </a:pathLst>
            </a:custGeom>
            <a:solidFill>
              <a:srgbClr val="7B2C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763" y="4757737"/>
              <a:ext cx="9139555" cy="386080"/>
            </a:xfrm>
            <a:custGeom>
              <a:avLst/>
              <a:gdLst/>
              <a:ahLst/>
              <a:cxnLst/>
              <a:rect l="l" t="t" r="r" b="b"/>
              <a:pathLst>
                <a:path w="9139555" h="386079">
                  <a:moveTo>
                    <a:pt x="9139236" y="0"/>
                  </a:moveTo>
                  <a:lnTo>
                    <a:pt x="0" y="0"/>
                  </a:lnTo>
                  <a:lnTo>
                    <a:pt x="0" y="385762"/>
                  </a:lnTo>
                </a:path>
              </a:pathLst>
            </a:custGeom>
            <a:ln w="12700">
              <a:solidFill>
                <a:srgbClr val="7B2C6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pc="-10"/>
              <a:t>MasarratCare</a:t>
            </a:r>
            <a:r>
              <a:rPr dirty="0" spc="-50"/>
              <a:t> </a:t>
            </a:r>
            <a:r>
              <a:rPr dirty="0"/>
              <a:t>|</a:t>
            </a:r>
            <a:r>
              <a:rPr dirty="0" spc="-10"/>
              <a:t> </a:t>
            </a:r>
            <a:r>
              <a:rPr dirty="0"/>
              <a:t>Syed</a:t>
            </a:r>
            <a:r>
              <a:rPr dirty="0" spc="5"/>
              <a:t> </a:t>
            </a:r>
            <a:r>
              <a:rPr dirty="0"/>
              <a:t>Mubashir</a:t>
            </a:r>
            <a:r>
              <a:rPr dirty="0" spc="15"/>
              <a:t> </a:t>
            </a:r>
            <a:r>
              <a:rPr dirty="0"/>
              <a:t>Ahmed</a:t>
            </a:r>
            <a:r>
              <a:rPr dirty="0" spc="10"/>
              <a:t> </a:t>
            </a:r>
            <a:r>
              <a:rPr dirty="0" spc="-10"/>
              <a:t>Hashmi</a:t>
            </a:r>
            <a:r>
              <a:rPr dirty="0" spc="-35"/>
              <a:t> </a:t>
            </a:r>
            <a:r>
              <a:rPr dirty="0"/>
              <a:t>|</a:t>
            </a:r>
            <a:r>
              <a:rPr dirty="0" spc="-10"/>
              <a:t> 20089221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6172" sz="5400" spc="-44">
                <a:solidFill>
                  <a:srgbClr val="B54689"/>
                </a:solidFill>
              </a:rPr>
              <a:t>06</a:t>
            </a:r>
            <a:r>
              <a:rPr dirty="0" baseline="-6172" sz="5400" spc="-480">
                <a:solidFill>
                  <a:srgbClr val="B54689"/>
                </a:solidFill>
              </a:rPr>
              <a:t> </a:t>
            </a:r>
            <a:r>
              <a:rPr dirty="0" sz="2400"/>
              <a:t>Deployment</a:t>
            </a:r>
            <a:r>
              <a:rPr dirty="0" sz="2400" spc="-65"/>
              <a:t> </a:t>
            </a:r>
            <a:r>
              <a:rPr dirty="0" sz="2400"/>
              <a:t>&amp;</a:t>
            </a:r>
            <a:r>
              <a:rPr dirty="0" sz="2400" spc="35"/>
              <a:t> </a:t>
            </a:r>
            <a:r>
              <a:rPr dirty="0" sz="2400" spc="-10"/>
              <a:t>External</a:t>
            </a:r>
            <a:r>
              <a:rPr dirty="0" sz="2400" spc="-175"/>
              <a:t> </a:t>
            </a:r>
            <a:r>
              <a:rPr dirty="0" sz="2400" spc="-20"/>
              <a:t>APIs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50" y="961961"/>
            <a:ext cx="4348226" cy="375767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80987" y="1052575"/>
            <a:ext cx="4114800" cy="3524250"/>
            <a:chOff x="280987" y="1052575"/>
            <a:chExt cx="4114800" cy="3524250"/>
          </a:xfrm>
        </p:grpSpPr>
        <p:sp>
          <p:nvSpPr>
            <p:cNvPr id="5" name="object 5"/>
            <p:cNvSpPr/>
            <p:nvPr/>
          </p:nvSpPr>
          <p:spPr>
            <a:xfrm>
              <a:off x="280987" y="1471675"/>
              <a:ext cx="4114800" cy="2828925"/>
            </a:xfrm>
            <a:custGeom>
              <a:avLst/>
              <a:gdLst/>
              <a:ahLst/>
              <a:cxnLst/>
              <a:rect l="l" t="t" r="r" b="b"/>
              <a:pathLst>
                <a:path w="4114800" h="2828925">
                  <a:moveTo>
                    <a:pt x="0" y="2828861"/>
                  </a:moveTo>
                  <a:lnTo>
                    <a:pt x="4114800" y="2828861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28288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80987" y="1052575"/>
              <a:ext cx="4114800" cy="419100"/>
            </a:xfrm>
            <a:custGeom>
              <a:avLst/>
              <a:gdLst/>
              <a:ahLst/>
              <a:cxnLst/>
              <a:rect l="l" t="t" r="r" b="b"/>
              <a:pathLst>
                <a:path w="4114800" h="419100">
                  <a:moveTo>
                    <a:pt x="4114800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4114800" y="419100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B5468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325" y="1095311"/>
              <a:ext cx="433387" cy="35718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80987" y="4300537"/>
              <a:ext cx="4114800" cy="276225"/>
            </a:xfrm>
            <a:custGeom>
              <a:avLst/>
              <a:gdLst/>
              <a:ahLst/>
              <a:cxnLst/>
              <a:rect l="l" t="t" r="r" b="b"/>
              <a:pathLst>
                <a:path w="4114800" h="276225">
                  <a:moveTo>
                    <a:pt x="411480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114800" y="276225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F8EFF5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74637" y="1046162"/>
          <a:ext cx="4203700" cy="3523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4800"/>
              </a:tblGrid>
              <a:tr h="419100">
                <a:tc>
                  <a:txBody>
                    <a:bodyPr/>
                    <a:lstStyle/>
                    <a:p>
                      <a:pPr marL="40132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12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Render</a:t>
                      </a:r>
                      <a:r>
                        <a:rPr dirty="0" sz="1250" spc="1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Deployment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0">
                    <a:lnL w="12700">
                      <a:solidFill>
                        <a:srgbClr val="B54689"/>
                      </a:solidFill>
                      <a:prstDash val="solid"/>
                    </a:lnL>
                    <a:lnR w="12700">
                      <a:solidFill>
                        <a:srgbClr val="B54689"/>
                      </a:solidFill>
                      <a:prstDash val="solid"/>
                    </a:lnR>
                    <a:lnT w="12700">
                      <a:solidFill>
                        <a:srgbClr val="B54689"/>
                      </a:solidFill>
                      <a:prstDash val="solid"/>
                    </a:lnT>
                    <a:lnB w="12700">
                      <a:solidFill>
                        <a:srgbClr val="B54689"/>
                      </a:solidFill>
                      <a:prstDash val="solid"/>
                    </a:lnB>
                  </a:tcPr>
                </a:tc>
              </a:tr>
              <a:tr h="2828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565150" indent="-342900">
                        <a:lnSpc>
                          <a:spcPct val="100000"/>
                        </a:lnSpc>
                        <a:buChar char="•"/>
                        <a:tabLst>
                          <a:tab pos="565150" algn="l"/>
                        </a:tabLst>
                      </a:pPr>
                      <a:r>
                        <a:rPr dirty="0" sz="9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Platform:</a:t>
                      </a:r>
                      <a:r>
                        <a:rPr dirty="0" sz="950" spc="229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Render.com</a:t>
                      </a:r>
                      <a:r>
                        <a:rPr dirty="0" sz="950" spc="114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(free</a:t>
                      </a:r>
                      <a:r>
                        <a:rPr dirty="0" sz="950" spc="105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tier)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65"/>
                        </a:spcBef>
                        <a:buClr>
                          <a:srgbClr val="2C2C2C"/>
                        </a:buClr>
                        <a:buFont typeface="Calibri"/>
                        <a:buChar char="•"/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565150" indent="-342900">
                        <a:lnSpc>
                          <a:spcPct val="100000"/>
                        </a:lnSpc>
                        <a:spcBef>
                          <a:spcPts val="5"/>
                        </a:spcBef>
                        <a:buChar char="•"/>
                        <a:tabLst>
                          <a:tab pos="565150" algn="l"/>
                        </a:tabLst>
                      </a:pPr>
                      <a:r>
                        <a:rPr dirty="0" sz="9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Region:</a:t>
                      </a:r>
                      <a:r>
                        <a:rPr dirty="0" sz="950" spc="145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Frankfurt</a:t>
                      </a:r>
                      <a:r>
                        <a:rPr dirty="0" sz="950" spc="6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EU</a:t>
                      </a:r>
                      <a:r>
                        <a:rPr dirty="0" sz="950" spc="85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950" spc="95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closest</a:t>
                      </a:r>
                      <a:r>
                        <a:rPr dirty="0" sz="950" spc="6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950" spc="105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Dublin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65"/>
                        </a:spcBef>
                        <a:buClr>
                          <a:srgbClr val="2C2C2C"/>
                        </a:buClr>
                        <a:buFont typeface="Calibri"/>
                        <a:buChar char="•"/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565150" indent="-342900">
                        <a:lnSpc>
                          <a:spcPct val="100000"/>
                        </a:lnSpc>
                        <a:spcBef>
                          <a:spcPts val="5"/>
                        </a:spcBef>
                        <a:buChar char="•"/>
                        <a:tabLst>
                          <a:tab pos="565150" algn="l"/>
                        </a:tabLst>
                      </a:pPr>
                      <a:r>
                        <a:rPr dirty="0" sz="9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Runtime:</a:t>
                      </a:r>
                      <a:r>
                        <a:rPr dirty="0" sz="950" spc="17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Python</a:t>
                      </a:r>
                      <a:r>
                        <a:rPr dirty="0" sz="950" spc="125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3.11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65"/>
                        </a:spcBef>
                        <a:buClr>
                          <a:srgbClr val="2C2C2C"/>
                        </a:buClr>
                        <a:buFont typeface="Calibri"/>
                        <a:buChar char="•"/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565150" indent="-342900">
                        <a:lnSpc>
                          <a:spcPct val="100000"/>
                        </a:lnSpc>
                        <a:spcBef>
                          <a:spcPts val="5"/>
                        </a:spcBef>
                        <a:buChar char="•"/>
                        <a:tabLst>
                          <a:tab pos="565150" algn="l"/>
                        </a:tabLst>
                      </a:pPr>
                      <a:r>
                        <a:rPr dirty="0" sz="9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Server:</a:t>
                      </a:r>
                      <a:r>
                        <a:rPr dirty="0" sz="950" spc="10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gunicorn</a:t>
                      </a:r>
                      <a:r>
                        <a:rPr dirty="0" sz="950" spc="185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WSGI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65"/>
                        </a:spcBef>
                        <a:buClr>
                          <a:srgbClr val="2C2C2C"/>
                        </a:buClr>
                        <a:buFont typeface="Calibri"/>
                        <a:buChar char="•"/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565150" indent="-342900">
                        <a:lnSpc>
                          <a:spcPct val="100000"/>
                        </a:lnSpc>
                        <a:buChar char="•"/>
                        <a:tabLst>
                          <a:tab pos="565150" algn="l"/>
                        </a:tabLst>
                      </a:pPr>
                      <a:r>
                        <a:rPr dirty="0" sz="9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Flask</a:t>
                      </a:r>
                      <a:r>
                        <a:rPr dirty="0" sz="950" spc="8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serves</a:t>
                      </a:r>
                      <a:r>
                        <a:rPr dirty="0" sz="950" spc="65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frontend</a:t>
                      </a:r>
                      <a:r>
                        <a:rPr dirty="0" sz="950" spc="9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950" spc="125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API</a:t>
                      </a:r>
                      <a:r>
                        <a:rPr dirty="0" sz="950" spc="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950" spc="9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same</a:t>
                      </a:r>
                      <a:r>
                        <a:rPr dirty="0" sz="950" spc="25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server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69"/>
                        </a:spcBef>
                        <a:buClr>
                          <a:srgbClr val="2C2C2C"/>
                        </a:buClr>
                        <a:buFont typeface="Calibri"/>
                        <a:buChar char="•"/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565150" indent="-342900">
                        <a:lnSpc>
                          <a:spcPct val="100000"/>
                        </a:lnSpc>
                        <a:buChar char="•"/>
                        <a:tabLst>
                          <a:tab pos="565150" algn="l"/>
                        </a:tabLst>
                      </a:pPr>
                      <a:r>
                        <a:rPr dirty="0" sz="9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Auto-seed</a:t>
                      </a:r>
                      <a:r>
                        <a:rPr dirty="0" sz="950" spc="95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950" spc="95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startup</a:t>
                      </a:r>
                      <a:r>
                        <a:rPr dirty="0" sz="950" spc="9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950" spc="9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dirty="0" sz="950" spc="95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manual</a:t>
                      </a:r>
                      <a:r>
                        <a:rPr dirty="0" sz="950" spc="85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seed</a:t>
                      </a:r>
                      <a:r>
                        <a:rPr dirty="0" sz="950" spc="95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needed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69"/>
                        </a:spcBef>
                        <a:buClr>
                          <a:srgbClr val="2C2C2C"/>
                        </a:buClr>
                        <a:buFont typeface="Calibri"/>
                        <a:buChar char="•"/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565150" indent="-342900">
                        <a:lnSpc>
                          <a:spcPct val="100000"/>
                        </a:lnSpc>
                        <a:buChar char="•"/>
                        <a:tabLst>
                          <a:tab pos="565150" algn="l"/>
                        </a:tabLst>
                      </a:pPr>
                      <a:r>
                        <a:rPr dirty="0" sz="9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SQLite</a:t>
                      </a:r>
                      <a:r>
                        <a:rPr dirty="0" sz="950" spc="1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resets</a:t>
                      </a:r>
                      <a:r>
                        <a:rPr dirty="0" sz="950" spc="9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950" spc="12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redeploy</a:t>
                      </a:r>
                      <a:r>
                        <a:rPr dirty="0" sz="950" spc="13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950" spc="105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auto_seed()</a:t>
                      </a:r>
                      <a:r>
                        <a:rPr dirty="0" sz="950" spc="10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fixes</a:t>
                      </a:r>
                      <a:r>
                        <a:rPr dirty="0" sz="950" spc="9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0">
                          <a:solidFill>
                            <a:srgbClr val="2C2C2C"/>
                          </a:solidFill>
                          <a:latin typeface="Calibri"/>
                          <a:cs typeface="Calibri"/>
                        </a:rPr>
                        <a:t>this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B54689"/>
                      </a:solidFill>
                      <a:prstDash val="solid"/>
                    </a:lnT>
                    <a:lnB w="12700">
                      <a:solidFill>
                        <a:srgbClr val="B54689"/>
                      </a:solidFill>
                      <a:prstDash val="solid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116840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dirty="0" sz="950" b="1">
                          <a:solidFill>
                            <a:srgbClr val="7B2C6B"/>
                          </a:solidFill>
                          <a:latin typeface="Calibri"/>
                          <a:cs typeface="Calibri"/>
                        </a:rPr>
                        <a:t>masarratcare-</a:t>
                      </a:r>
                      <a:r>
                        <a:rPr dirty="0" sz="950" spc="-10" b="1">
                          <a:solidFill>
                            <a:srgbClr val="7B2C6B"/>
                          </a:solidFill>
                          <a:latin typeface="Calibri"/>
                          <a:cs typeface="Calibri"/>
                        </a:rPr>
                        <a:t>v5nk.onrender.com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59690">
                    <a:lnL w="12700">
                      <a:solidFill>
                        <a:srgbClr val="B54689"/>
                      </a:solidFill>
                      <a:prstDash val="solid"/>
                    </a:lnL>
                    <a:lnR w="12700">
                      <a:solidFill>
                        <a:srgbClr val="B54689"/>
                      </a:solidFill>
                      <a:prstDash val="solid"/>
                    </a:lnR>
                    <a:lnT w="12700">
                      <a:solidFill>
                        <a:srgbClr val="B54689"/>
                      </a:solidFill>
                      <a:prstDash val="solid"/>
                    </a:lnT>
                    <a:lnB w="12700">
                      <a:solidFill>
                        <a:srgbClr val="B5468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4524375" y="961961"/>
            <a:ext cx="4434205" cy="3757929"/>
            <a:chOff x="4524375" y="961961"/>
            <a:chExt cx="4434205" cy="3757929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4375" y="961961"/>
              <a:ext cx="4433951" cy="375767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672076" y="1471676"/>
              <a:ext cx="4200525" cy="3105150"/>
            </a:xfrm>
            <a:custGeom>
              <a:avLst/>
              <a:gdLst/>
              <a:ahLst/>
              <a:cxnLst/>
              <a:rect l="l" t="t" r="r" b="b"/>
              <a:pathLst>
                <a:path w="4200525" h="3105150">
                  <a:moveTo>
                    <a:pt x="0" y="3105086"/>
                  </a:moveTo>
                  <a:lnTo>
                    <a:pt x="4200525" y="3105086"/>
                  </a:lnTo>
                  <a:lnTo>
                    <a:pt x="4200525" y="0"/>
                  </a:lnTo>
                  <a:lnTo>
                    <a:pt x="0" y="0"/>
                  </a:lnTo>
                  <a:lnTo>
                    <a:pt x="0" y="31050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672076" y="1052512"/>
              <a:ext cx="4200525" cy="3524250"/>
            </a:xfrm>
            <a:custGeom>
              <a:avLst/>
              <a:gdLst/>
              <a:ahLst/>
              <a:cxnLst/>
              <a:rect l="l" t="t" r="r" b="b"/>
              <a:pathLst>
                <a:path w="4200525" h="3524250">
                  <a:moveTo>
                    <a:pt x="0" y="3524250"/>
                  </a:moveTo>
                  <a:lnTo>
                    <a:pt x="4200525" y="3524250"/>
                  </a:lnTo>
                  <a:lnTo>
                    <a:pt x="4200525" y="0"/>
                  </a:lnTo>
                  <a:lnTo>
                    <a:pt x="0" y="0"/>
                  </a:lnTo>
                  <a:lnTo>
                    <a:pt x="0" y="3524250"/>
                  </a:lnTo>
                  <a:close/>
                </a:path>
              </a:pathLst>
            </a:custGeom>
            <a:ln w="12700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672076" y="1052576"/>
              <a:ext cx="4200525" cy="419100"/>
            </a:xfrm>
            <a:custGeom>
              <a:avLst/>
              <a:gdLst/>
              <a:ahLst/>
              <a:cxnLst/>
              <a:rect l="l" t="t" r="r" b="b"/>
              <a:pathLst>
                <a:path w="4200525" h="419100">
                  <a:moveTo>
                    <a:pt x="4200525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4200525" y="419100"/>
                  </a:lnTo>
                  <a:lnTo>
                    <a:pt x="4200525" y="0"/>
                  </a:lnTo>
                  <a:close/>
                </a:path>
              </a:pathLst>
            </a:custGeom>
            <a:solidFill>
              <a:srgbClr val="7B2C6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05350" y="1095311"/>
              <a:ext cx="423862" cy="35718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4672076" y="1052544"/>
            <a:ext cx="4200525" cy="419734"/>
          </a:xfrm>
          <a:prstGeom prst="rect">
            <a:avLst/>
          </a:prstGeom>
          <a:ln w="12700">
            <a:solidFill>
              <a:srgbClr val="7B2C6B"/>
            </a:solidFill>
          </a:ln>
        </p:spPr>
        <p:txBody>
          <a:bodyPr wrap="square" lIns="0" tIns="101600" rIns="0" bIns="0" rtlCol="0" vert="horz">
            <a:spAutoFit/>
          </a:bodyPr>
          <a:lstStyle/>
          <a:p>
            <a:pPr marL="403860">
              <a:lnSpc>
                <a:spcPct val="100000"/>
              </a:lnSpc>
              <a:spcBef>
                <a:spcPts val="800"/>
              </a:spcBef>
            </a:pPr>
            <a:r>
              <a:rPr dirty="0" sz="1250" b="1">
                <a:solidFill>
                  <a:srgbClr val="FFFFFF"/>
                </a:solidFill>
                <a:latin typeface="Calibri"/>
                <a:cs typeface="Calibri"/>
              </a:rPr>
              <a:t>External</a:t>
            </a:r>
            <a:r>
              <a:rPr dirty="0" sz="1250" spc="10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20" b="1">
                <a:solidFill>
                  <a:srgbClr val="FFFFFF"/>
                </a:solidFill>
                <a:latin typeface="Calibri"/>
                <a:cs typeface="Calibri"/>
              </a:rPr>
              <a:t>APIs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57801" y="1576450"/>
            <a:ext cx="4029075" cy="276225"/>
          </a:xfrm>
          <a:prstGeom prst="rect">
            <a:avLst/>
          </a:prstGeom>
          <a:solidFill>
            <a:srgbClr val="F8EFF5"/>
          </a:solidFill>
          <a:ln w="12700">
            <a:solidFill>
              <a:srgbClr val="B54689"/>
            </a:solidFill>
          </a:ln>
        </p:spPr>
        <p:txBody>
          <a:bodyPr wrap="square" lIns="0" tIns="46355" rIns="0" bIns="0" rtlCol="0" vert="horz">
            <a:spAutoFit/>
          </a:bodyPr>
          <a:lstStyle/>
          <a:p>
            <a:pPr marL="78105">
              <a:lnSpc>
                <a:spcPct val="100000"/>
              </a:lnSpc>
              <a:spcBef>
                <a:spcPts val="365"/>
              </a:spcBef>
            </a:pPr>
            <a:r>
              <a:rPr dirty="0" sz="1100" b="1">
                <a:solidFill>
                  <a:srgbClr val="7B2C6B"/>
                </a:solidFill>
                <a:latin typeface="Calibri"/>
                <a:cs typeface="Calibri"/>
              </a:rPr>
              <a:t>1.</a:t>
            </a:r>
            <a:r>
              <a:rPr dirty="0" sz="1100" spc="-20" b="1">
                <a:solidFill>
                  <a:srgbClr val="7B2C6B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7B2C6B"/>
                </a:solidFill>
                <a:latin typeface="Calibri"/>
                <a:cs typeface="Calibri"/>
              </a:rPr>
              <a:t>QR</a:t>
            </a:r>
            <a:r>
              <a:rPr dirty="0" sz="1100" spc="20" b="1">
                <a:solidFill>
                  <a:srgbClr val="7B2C6B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7B2C6B"/>
                </a:solidFill>
                <a:latin typeface="Calibri"/>
                <a:cs typeface="Calibri"/>
              </a:rPr>
              <a:t>Server</a:t>
            </a:r>
            <a:r>
              <a:rPr dirty="0" sz="1100" spc="-40" b="1">
                <a:solidFill>
                  <a:srgbClr val="7B2C6B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7B2C6B"/>
                </a:solidFill>
                <a:latin typeface="Calibri"/>
                <a:cs typeface="Calibri"/>
              </a:rPr>
              <a:t>API</a:t>
            </a:r>
            <a:r>
              <a:rPr dirty="0" sz="1100" spc="-5" b="1">
                <a:solidFill>
                  <a:srgbClr val="7B2C6B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7B2C6B"/>
                </a:solidFill>
                <a:latin typeface="Calibri"/>
                <a:cs typeface="Calibri"/>
              </a:rPr>
              <a:t>- </a:t>
            </a:r>
            <a:r>
              <a:rPr dirty="0" sz="1100" spc="-10" b="1">
                <a:solidFill>
                  <a:srgbClr val="7B2C6B"/>
                </a:solidFill>
                <a:latin typeface="Calibri"/>
                <a:cs typeface="Calibri"/>
              </a:rPr>
              <a:t>goqr.me/api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84420" y="1935479"/>
            <a:ext cx="2926715" cy="9988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5"/>
              </a:spcBef>
              <a:buChar char="•"/>
              <a:tabLst>
                <a:tab pos="355600" algn="l"/>
              </a:tabLst>
            </a:pP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Generates</a:t>
            </a:r>
            <a:r>
              <a:rPr dirty="0" sz="950" spc="8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QR</a:t>
            </a:r>
            <a:r>
              <a:rPr dirty="0" sz="950" spc="8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code</a:t>
            </a:r>
            <a:r>
              <a:rPr dirty="0" sz="950" spc="14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image</a:t>
            </a:r>
            <a:r>
              <a:rPr dirty="0" sz="950" spc="14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for</a:t>
            </a:r>
            <a:r>
              <a:rPr dirty="0" sz="950" spc="3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verified</a:t>
            </a:r>
            <a:r>
              <a:rPr dirty="0" sz="950" spc="11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2C2C"/>
                </a:solidFill>
                <a:latin typeface="Calibri"/>
                <a:cs typeface="Calibri"/>
              </a:rPr>
              <a:t>products</a:t>
            </a:r>
            <a:endParaRPr sz="9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019"/>
              </a:spcBef>
              <a:buChar char="•"/>
              <a:tabLst>
                <a:tab pos="355600" algn="l"/>
              </a:tabLst>
            </a:pP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Only</a:t>
            </a:r>
            <a:r>
              <a:rPr dirty="0" sz="950" spc="11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called</a:t>
            </a:r>
            <a:r>
              <a:rPr dirty="0" sz="950" spc="11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for</a:t>
            </a:r>
            <a:r>
              <a:rPr dirty="0" sz="950" spc="4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GENUINE</a:t>
            </a:r>
            <a:r>
              <a:rPr dirty="0" sz="950" spc="17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products</a:t>
            </a:r>
            <a:r>
              <a:rPr dirty="0" sz="950" spc="10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-</a:t>
            </a:r>
            <a:r>
              <a:rPr dirty="0" sz="950" spc="10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business</a:t>
            </a:r>
            <a:r>
              <a:rPr dirty="0" sz="950" spc="9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2C2C2C"/>
                </a:solidFill>
                <a:latin typeface="Calibri"/>
                <a:cs typeface="Calibri"/>
              </a:rPr>
              <a:t>logic</a:t>
            </a:r>
            <a:endParaRPr sz="9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025"/>
              </a:spcBef>
              <a:buChar char="•"/>
              <a:tabLst>
                <a:tab pos="355600" algn="l"/>
              </a:tabLst>
            </a:pP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No</a:t>
            </a:r>
            <a:r>
              <a:rPr dirty="0" sz="950" spc="7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API</a:t>
            </a:r>
            <a:r>
              <a:rPr dirty="0" sz="950" spc="13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key</a:t>
            </a:r>
            <a:r>
              <a:rPr dirty="0" sz="950" spc="7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needed</a:t>
            </a:r>
            <a:r>
              <a:rPr dirty="0" sz="950" spc="12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-</a:t>
            </a:r>
            <a:r>
              <a:rPr dirty="0" sz="950" spc="7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completely</a:t>
            </a:r>
            <a:r>
              <a:rPr dirty="0" sz="950" spc="7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2C2C2C"/>
                </a:solidFill>
                <a:latin typeface="Calibri"/>
                <a:cs typeface="Calibri"/>
              </a:rPr>
              <a:t>free</a:t>
            </a:r>
            <a:endParaRPr sz="9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025"/>
              </a:spcBef>
              <a:buChar char="•"/>
              <a:tabLst>
                <a:tab pos="355600" algn="l"/>
              </a:tabLst>
            </a:pP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URL</a:t>
            </a:r>
            <a:r>
              <a:rPr dirty="0" sz="950" spc="204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format:</a:t>
            </a:r>
            <a:r>
              <a:rPr dirty="0" sz="950" spc="19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api.qrserver.com/v1/create-qr-</a:t>
            </a:r>
            <a:r>
              <a:rPr dirty="0" sz="950" spc="-20">
                <a:solidFill>
                  <a:srgbClr val="2C2C2C"/>
                </a:solidFill>
                <a:latin typeface="Calibri"/>
                <a:cs typeface="Calibri"/>
              </a:rPr>
              <a:t>code/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57801" y="3090926"/>
            <a:ext cx="4029075" cy="276225"/>
          </a:xfrm>
          <a:prstGeom prst="rect">
            <a:avLst/>
          </a:prstGeom>
          <a:solidFill>
            <a:srgbClr val="F8EFF5"/>
          </a:solidFill>
          <a:ln w="12700">
            <a:solidFill>
              <a:srgbClr val="B54689"/>
            </a:solidFill>
          </a:ln>
        </p:spPr>
        <p:txBody>
          <a:bodyPr wrap="square" lIns="0" tIns="52705" rIns="0" bIns="0" rtlCol="0" vert="horz">
            <a:spAutoFit/>
          </a:bodyPr>
          <a:lstStyle/>
          <a:p>
            <a:pPr marL="78105">
              <a:lnSpc>
                <a:spcPct val="100000"/>
              </a:lnSpc>
              <a:spcBef>
                <a:spcPts val="415"/>
              </a:spcBef>
            </a:pPr>
            <a:r>
              <a:rPr dirty="0" sz="1100" b="1">
                <a:solidFill>
                  <a:srgbClr val="7B2C6B"/>
                </a:solidFill>
                <a:latin typeface="Calibri"/>
                <a:cs typeface="Calibri"/>
              </a:rPr>
              <a:t>2. </a:t>
            </a:r>
            <a:r>
              <a:rPr dirty="0" sz="1100" spc="-10" b="1">
                <a:solidFill>
                  <a:srgbClr val="7B2C6B"/>
                </a:solidFill>
                <a:latin typeface="Calibri"/>
                <a:cs typeface="Calibri"/>
              </a:rPr>
              <a:t>Exchange</a:t>
            </a:r>
            <a:r>
              <a:rPr dirty="0" sz="1100" spc="-45" b="1">
                <a:solidFill>
                  <a:srgbClr val="7B2C6B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7B2C6B"/>
                </a:solidFill>
                <a:latin typeface="Calibri"/>
                <a:cs typeface="Calibri"/>
              </a:rPr>
              <a:t>Rate</a:t>
            </a:r>
            <a:r>
              <a:rPr dirty="0" sz="1100" spc="35" b="1">
                <a:solidFill>
                  <a:srgbClr val="7B2C6B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7B2C6B"/>
                </a:solidFill>
                <a:latin typeface="Calibri"/>
                <a:cs typeface="Calibri"/>
              </a:rPr>
              <a:t>API</a:t>
            </a:r>
            <a:r>
              <a:rPr dirty="0" sz="1100" spc="60" b="1">
                <a:solidFill>
                  <a:srgbClr val="7B2C6B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7B2C6B"/>
                </a:solidFill>
                <a:latin typeface="Calibri"/>
                <a:cs typeface="Calibri"/>
              </a:rPr>
              <a:t>-</a:t>
            </a:r>
            <a:r>
              <a:rPr dirty="0" sz="1100" spc="15" b="1">
                <a:solidFill>
                  <a:srgbClr val="7B2C6B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7B2C6B"/>
                </a:solidFill>
                <a:latin typeface="Calibri"/>
                <a:cs typeface="Calibri"/>
              </a:rPr>
              <a:t>exchangerate-api.com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84420" y="3455733"/>
            <a:ext cx="2379980" cy="9988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5"/>
              </a:spcBef>
              <a:buChar char="•"/>
              <a:tabLst>
                <a:tab pos="355600" algn="l"/>
              </a:tabLst>
            </a:pP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Converts</a:t>
            </a:r>
            <a:r>
              <a:rPr dirty="0" sz="950" spc="7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PKR</a:t>
            </a:r>
            <a:r>
              <a:rPr dirty="0" sz="950" spc="7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prices</a:t>
            </a:r>
            <a:r>
              <a:rPr dirty="0" sz="950" spc="8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to</a:t>
            </a:r>
            <a:r>
              <a:rPr dirty="0" sz="950" spc="9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EUR</a:t>
            </a:r>
            <a:r>
              <a:rPr dirty="0" sz="950" spc="8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in</a:t>
            </a:r>
            <a:r>
              <a:rPr dirty="0" sz="950" spc="9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real</a:t>
            </a:r>
            <a:r>
              <a:rPr dirty="0" sz="950" spc="8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2C2C2C"/>
                </a:solidFill>
                <a:latin typeface="Calibri"/>
                <a:cs typeface="Calibri"/>
              </a:rPr>
              <a:t>time</a:t>
            </a:r>
            <a:endParaRPr sz="9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025"/>
              </a:spcBef>
              <a:buChar char="•"/>
              <a:tabLst>
                <a:tab pos="355600" algn="l"/>
              </a:tabLst>
            </a:pP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Called</a:t>
            </a:r>
            <a:r>
              <a:rPr dirty="0" sz="950" spc="11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on</a:t>
            </a:r>
            <a:r>
              <a:rPr dirty="0" sz="950" spc="114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every</a:t>
            </a:r>
            <a:r>
              <a:rPr dirty="0" sz="950" spc="114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product</a:t>
            </a:r>
            <a:r>
              <a:rPr dirty="0" sz="950" spc="6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2C2C2C"/>
                </a:solidFill>
                <a:latin typeface="Calibri"/>
                <a:cs typeface="Calibri"/>
              </a:rPr>
              <a:t>load</a:t>
            </a:r>
            <a:endParaRPr sz="9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025"/>
              </a:spcBef>
              <a:buChar char="•"/>
              <a:tabLst>
                <a:tab pos="355600" algn="l"/>
              </a:tabLst>
            </a:pP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Relevant</a:t>
            </a:r>
            <a:r>
              <a:rPr dirty="0" sz="950" spc="10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-</a:t>
            </a:r>
            <a:r>
              <a:rPr dirty="0" sz="950" spc="9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presenting</a:t>
            </a:r>
            <a:r>
              <a:rPr dirty="0" sz="950" spc="8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in</a:t>
            </a:r>
            <a:r>
              <a:rPr dirty="0" sz="950" spc="11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Dublin,</a:t>
            </a:r>
            <a:r>
              <a:rPr dirty="0" sz="950" spc="17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2C2C"/>
                </a:solidFill>
                <a:latin typeface="Calibri"/>
                <a:cs typeface="Calibri"/>
              </a:rPr>
              <a:t>Ireland</a:t>
            </a:r>
            <a:endParaRPr sz="9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025"/>
              </a:spcBef>
              <a:buChar char="•"/>
              <a:tabLst>
                <a:tab pos="355600" algn="l"/>
              </a:tabLst>
            </a:pP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Free</a:t>
            </a:r>
            <a:r>
              <a:rPr dirty="0" sz="950" spc="1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tier</a:t>
            </a:r>
            <a:r>
              <a:rPr dirty="0" sz="950" spc="114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-</a:t>
            </a:r>
            <a:r>
              <a:rPr dirty="0" sz="950" spc="65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no</a:t>
            </a:r>
            <a:r>
              <a:rPr dirty="0" sz="950" spc="7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2C2C"/>
                </a:solidFill>
                <a:latin typeface="Calibri"/>
                <a:cs typeface="Calibri"/>
              </a:rPr>
              <a:t>key</a:t>
            </a:r>
            <a:r>
              <a:rPr dirty="0" sz="950" spc="7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2C2C"/>
                </a:solidFill>
                <a:latin typeface="Calibri"/>
                <a:cs typeface="Calibri"/>
              </a:rPr>
              <a:t>required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-1586" y="4751387"/>
            <a:ext cx="9152255" cy="398780"/>
            <a:chOff x="-1586" y="4751387"/>
            <a:chExt cx="9152255" cy="398780"/>
          </a:xfrm>
        </p:grpSpPr>
        <p:sp>
          <p:nvSpPr>
            <p:cNvPr id="22" name="object 22"/>
            <p:cNvSpPr/>
            <p:nvPr/>
          </p:nvSpPr>
          <p:spPr>
            <a:xfrm>
              <a:off x="4763" y="4757737"/>
              <a:ext cx="9139555" cy="386080"/>
            </a:xfrm>
            <a:custGeom>
              <a:avLst/>
              <a:gdLst/>
              <a:ahLst/>
              <a:cxnLst/>
              <a:rect l="l" t="t" r="r" b="b"/>
              <a:pathLst>
                <a:path w="9139555" h="386079">
                  <a:moveTo>
                    <a:pt x="9139236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9139236" y="385762"/>
                  </a:lnTo>
                  <a:lnTo>
                    <a:pt x="9139236" y="0"/>
                  </a:lnTo>
                  <a:close/>
                </a:path>
              </a:pathLst>
            </a:custGeom>
            <a:solidFill>
              <a:srgbClr val="7B2C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763" y="4757737"/>
              <a:ext cx="9139555" cy="386080"/>
            </a:xfrm>
            <a:custGeom>
              <a:avLst/>
              <a:gdLst/>
              <a:ahLst/>
              <a:cxnLst/>
              <a:rect l="l" t="t" r="r" b="b"/>
              <a:pathLst>
                <a:path w="9139555" h="386079">
                  <a:moveTo>
                    <a:pt x="9139236" y="0"/>
                  </a:moveTo>
                  <a:lnTo>
                    <a:pt x="0" y="0"/>
                  </a:lnTo>
                  <a:lnTo>
                    <a:pt x="0" y="385762"/>
                  </a:lnTo>
                </a:path>
              </a:pathLst>
            </a:custGeom>
            <a:ln w="12700">
              <a:solidFill>
                <a:srgbClr val="7B2C6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pc="-10"/>
              <a:t>MasarratCare</a:t>
            </a:r>
            <a:r>
              <a:rPr dirty="0" spc="-50"/>
              <a:t> </a:t>
            </a:r>
            <a:r>
              <a:rPr dirty="0"/>
              <a:t>|</a:t>
            </a:r>
            <a:r>
              <a:rPr dirty="0" spc="-10"/>
              <a:t> </a:t>
            </a:r>
            <a:r>
              <a:rPr dirty="0"/>
              <a:t>Syed</a:t>
            </a:r>
            <a:r>
              <a:rPr dirty="0" spc="5"/>
              <a:t> </a:t>
            </a:r>
            <a:r>
              <a:rPr dirty="0"/>
              <a:t>Mubashir</a:t>
            </a:r>
            <a:r>
              <a:rPr dirty="0" spc="15"/>
              <a:t> </a:t>
            </a:r>
            <a:r>
              <a:rPr dirty="0"/>
              <a:t>Ahmed</a:t>
            </a:r>
            <a:r>
              <a:rPr dirty="0" spc="10"/>
              <a:t> </a:t>
            </a:r>
            <a:r>
              <a:rPr dirty="0" spc="-10"/>
              <a:t>Hashmi</a:t>
            </a:r>
            <a:r>
              <a:rPr dirty="0" spc="-35"/>
              <a:t> </a:t>
            </a:r>
            <a:r>
              <a:rPr dirty="0"/>
              <a:t>|</a:t>
            </a:r>
            <a:r>
              <a:rPr dirty="0" spc="-10"/>
              <a:t> 20089221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7B2C6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-1586" y="-1587"/>
            <a:ext cx="9152255" cy="5151755"/>
            <a:chOff x="-1586" y="-1587"/>
            <a:chExt cx="9152255" cy="5151755"/>
          </a:xfrm>
        </p:grpSpPr>
        <p:sp>
          <p:nvSpPr>
            <p:cNvPr id="4" name="object 4"/>
            <p:cNvSpPr/>
            <p:nvPr/>
          </p:nvSpPr>
          <p:spPr>
            <a:xfrm>
              <a:off x="4763" y="4825"/>
              <a:ext cx="9139555" cy="76200"/>
            </a:xfrm>
            <a:custGeom>
              <a:avLst/>
              <a:gdLst/>
              <a:ahLst/>
              <a:cxnLst/>
              <a:rect l="l" t="t" r="r" b="b"/>
              <a:pathLst>
                <a:path w="9139555" h="76200">
                  <a:moveTo>
                    <a:pt x="9139236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9139236" y="76200"/>
                  </a:lnTo>
                  <a:lnTo>
                    <a:pt x="9139236" y="0"/>
                  </a:lnTo>
                  <a:close/>
                </a:path>
              </a:pathLst>
            </a:custGeom>
            <a:solidFill>
              <a:srgbClr val="F471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763" y="4825"/>
              <a:ext cx="9139555" cy="76200"/>
            </a:xfrm>
            <a:custGeom>
              <a:avLst/>
              <a:gdLst/>
              <a:ahLst/>
              <a:cxnLst/>
              <a:rect l="l" t="t" r="r" b="b"/>
              <a:pathLst>
                <a:path w="9139555" h="76200">
                  <a:moveTo>
                    <a:pt x="9139236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9139236" y="76200"/>
                  </a:lnTo>
                </a:path>
              </a:pathLst>
            </a:custGeom>
            <a:ln w="12700">
              <a:solidFill>
                <a:srgbClr val="F471B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763" y="4762"/>
              <a:ext cx="76200" cy="5139055"/>
            </a:xfrm>
            <a:custGeom>
              <a:avLst/>
              <a:gdLst/>
              <a:ahLst/>
              <a:cxnLst/>
              <a:rect l="l" t="t" r="r" b="b"/>
              <a:pathLst>
                <a:path w="76200" h="5139055">
                  <a:moveTo>
                    <a:pt x="76200" y="0"/>
                  </a:moveTo>
                  <a:lnTo>
                    <a:pt x="0" y="0"/>
                  </a:lnTo>
                  <a:lnTo>
                    <a:pt x="0" y="5138737"/>
                  </a:lnTo>
                  <a:lnTo>
                    <a:pt x="76200" y="5138737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471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763" y="4762"/>
              <a:ext cx="76200" cy="5139055"/>
            </a:xfrm>
            <a:custGeom>
              <a:avLst/>
              <a:gdLst/>
              <a:ahLst/>
              <a:cxnLst/>
              <a:rect l="l" t="t" r="r" b="b"/>
              <a:pathLst>
                <a:path w="76200" h="5139055">
                  <a:moveTo>
                    <a:pt x="76200" y="5138737"/>
                  </a:moveTo>
                  <a:lnTo>
                    <a:pt x="76200" y="0"/>
                  </a:lnTo>
                  <a:lnTo>
                    <a:pt x="0" y="0"/>
                  </a:lnTo>
                  <a:lnTo>
                    <a:pt x="0" y="5138737"/>
                  </a:lnTo>
                </a:path>
              </a:pathLst>
            </a:custGeom>
            <a:ln w="12700">
              <a:solidFill>
                <a:srgbClr val="F471B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8725" y="2247836"/>
              <a:ext cx="6634226" cy="87153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376425" y="2338451"/>
              <a:ext cx="6400800" cy="638175"/>
            </a:xfrm>
            <a:custGeom>
              <a:avLst/>
              <a:gdLst/>
              <a:ahLst/>
              <a:cxnLst/>
              <a:rect l="l" t="t" r="r" b="b"/>
              <a:pathLst>
                <a:path w="6400800" h="638175">
                  <a:moveTo>
                    <a:pt x="6400800" y="0"/>
                  </a:moveTo>
                  <a:lnTo>
                    <a:pt x="0" y="0"/>
                  </a:lnTo>
                  <a:lnTo>
                    <a:pt x="0" y="638175"/>
                  </a:lnTo>
                  <a:lnTo>
                    <a:pt x="6400800" y="638175"/>
                  </a:lnTo>
                  <a:lnTo>
                    <a:pt x="640080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95524" y="2438336"/>
              <a:ext cx="595312" cy="481012"/>
            </a:xfrm>
            <a:prstGeom prst="rect">
              <a:avLst/>
            </a:prstGeom>
          </p:spPr>
        </p:pic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2841625" y="702627"/>
            <a:ext cx="3469004" cy="88455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600"/>
              <a:t>Thank</a:t>
            </a:r>
            <a:r>
              <a:rPr dirty="0" sz="5600" spc="-204"/>
              <a:t> </a:t>
            </a:r>
            <a:r>
              <a:rPr dirty="0" sz="5600" spc="-465"/>
              <a:t>Y</a:t>
            </a:r>
            <a:r>
              <a:rPr dirty="0" sz="5600" spc="30"/>
              <a:t>o</a:t>
            </a:r>
            <a:r>
              <a:rPr dirty="0" sz="5600" spc="70"/>
              <a:t>u</a:t>
            </a:r>
            <a:endParaRPr sz="5600"/>
          </a:p>
        </p:txBody>
      </p:sp>
      <p:sp>
        <p:nvSpPr>
          <p:cNvPr id="12" name="object 12"/>
          <p:cNvSpPr txBox="1"/>
          <p:nvPr/>
        </p:nvSpPr>
        <p:spPr>
          <a:xfrm>
            <a:off x="3513454" y="1784985"/>
            <a:ext cx="212915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i="1">
                <a:solidFill>
                  <a:srgbClr val="F8D4EB"/>
                </a:solidFill>
                <a:latin typeface="Calibri"/>
                <a:cs typeface="Calibri"/>
              </a:rPr>
              <a:t>Ready</a:t>
            </a:r>
            <a:r>
              <a:rPr dirty="0" sz="2000" spc="-45" i="1">
                <a:solidFill>
                  <a:srgbClr val="F8D4EB"/>
                </a:solidFill>
                <a:latin typeface="Calibri"/>
                <a:cs typeface="Calibri"/>
              </a:rPr>
              <a:t> </a:t>
            </a:r>
            <a:r>
              <a:rPr dirty="0" sz="2000" i="1">
                <a:solidFill>
                  <a:srgbClr val="F8D4EB"/>
                </a:solidFill>
                <a:latin typeface="Calibri"/>
                <a:cs typeface="Calibri"/>
              </a:rPr>
              <a:t>for</a:t>
            </a:r>
            <a:r>
              <a:rPr dirty="0" sz="2000" spc="-50" i="1">
                <a:solidFill>
                  <a:srgbClr val="F8D4EB"/>
                </a:solidFill>
                <a:latin typeface="Calibri"/>
                <a:cs typeface="Calibri"/>
              </a:rPr>
              <a:t> </a:t>
            </a:r>
            <a:r>
              <a:rPr dirty="0" sz="2000" i="1">
                <a:solidFill>
                  <a:srgbClr val="F8D4EB"/>
                </a:solidFill>
                <a:latin typeface="Calibri"/>
                <a:cs typeface="Calibri"/>
              </a:rPr>
              <a:t>Live</a:t>
            </a:r>
            <a:r>
              <a:rPr dirty="0" sz="2000" spc="-35" i="1">
                <a:solidFill>
                  <a:srgbClr val="F8D4EB"/>
                </a:solidFill>
                <a:latin typeface="Calibri"/>
                <a:cs typeface="Calibri"/>
              </a:rPr>
              <a:t> </a:t>
            </a:r>
            <a:r>
              <a:rPr dirty="0" sz="2000" spc="-20" i="1">
                <a:solidFill>
                  <a:srgbClr val="F8D4EB"/>
                </a:solidFill>
                <a:latin typeface="Calibri"/>
                <a:cs typeface="Calibri"/>
              </a:rPr>
              <a:t>Demo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76425" y="2338451"/>
            <a:ext cx="6400800" cy="638175"/>
          </a:xfrm>
          <a:prstGeom prst="rect">
            <a:avLst/>
          </a:prstGeom>
          <a:ln w="12700">
            <a:solidFill>
              <a:srgbClr val="FFFFFF"/>
            </a:solidFill>
          </a:ln>
        </p:spPr>
        <p:txBody>
          <a:bodyPr wrap="square" lIns="0" tIns="171450" rIns="0" bIns="0" rtlCol="0" vert="horz">
            <a:spAutoFit/>
          </a:bodyPr>
          <a:lstStyle/>
          <a:p>
            <a:pPr algn="ctr" marL="363855">
              <a:lnSpc>
                <a:spcPct val="100000"/>
              </a:lnSpc>
              <a:spcBef>
                <a:spcPts val="1350"/>
              </a:spcBef>
            </a:pP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https://masarratcare-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  <a:hlinkClick r:id="rId4"/>
              </a:rPr>
              <a:t>v5nk.onrender.com/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43125" y="3067050"/>
            <a:ext cx="4805426" cy="1014412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290826" y="3157537"/>
            <a:ext cx="4572000" cy="781050"/>
          </a:xfrm>
          <a:prstGeom prst="rect">
            <a:avLst/>
          </a:prstGeom>
          <a:solidFill>
            <a:srgbClr val="B54689"/>
          </a:solidFill>
          <a:ln w="12700">
            <a:solidFill>
              <a:srgbClr val="B54689"/>
            </a:solidFill>
          </a:ln>
        </p:spPr>
        <p:txBody>
          <a:bodyPr wrap="square" lIns="0" tIns="730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dirty="0" sz="1400" b="1">
                <a:solidFill>
                  <a:srgbClr val="FFFFFF"/>
                </a:solidFill>
                <a:latin typeface="Calibri"/>
                <a:cs typeface="Calibri"/>
              </a:rPr>
              <a:t>Login:</a:t>
            </a:r>
            <a:r>
              <a:rPr dirty="0" sz="14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admin</a:t>
            </a:r>
            <a:r>
              <a:rPr dirty="0" sz="1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dirty="0" sz="1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admin123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640"/>
              </a:spcBef>
            </a:pP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Test</a:t>
            </a:r>
            <a:r>
              <a:rPr dirty="0" sz="11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Batch:</a:t>
            </a:r>
            <a:r>
              <a:rPr dirty="0" sz="11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MM-LG-2024-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001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(GENUINE)</a:t>
            </a:r>
            <a:r>
              <a:rPr dirty="0" sz="110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|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 FAKE-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001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(FAKE)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76169" y="4831305"/>
            <a:ext cx="3401695" cy="17716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950">
                <a:solidFill>
                  <a:srgbClr val="F8D4EB"/>
                </a:solidFill>
                <a:latin typeface="Calibri"/>
                <a:cs typeface="Calibri"/>
              </a:rPr>
              <a:t>Syed</a:t>
            </a:r>
            <a:r>
              <a:rPr dirty="0" sz="950" spc="114">
                <a:solidFill>
                  <a:srgbClr val="F8D4EB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F8D4EB"/>
                </a:solidFill>
                <a:latin typeface="Calibri"/>
                <a:cs typeface="Calibri"/>
              </a:rPr>
              <a:t>Mubashir</a:t>
            </a:r>
            <a:r>
              <a:rPr dirty="0" sz="950" spc="50">
                <a:solidFill>
                  <a:srgbClr val="F8D4EB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F8D4EB"/>
                </a:solidFill>
                <a:latin typeface="Calibri"/>
                <a:cs typeface="Calibri"/>
              </a:rPr>
              <a:t>Ahmed</a:t>
            </a:r>
            <a:r>
              <a:rPr dirty="0" sz="950" spc="120">
                <a:solidFill>
                  <a:srgbClr val="F8D4EB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F8D4EB"/>
                </a:solidFill>
                <a:latin typeface="Calibri"/>
                <a:cs typeface="Calibri"/>
              </a:rPr>
              <a:t>Hashmi</a:t>
            </a:r>
            <a:r>
              <a:rPr dirty="0" sz="950" spc="95">
                <a:solidFill>
                  <a:srgbClr val="F8D4EB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F8D4EB"/>
                </a:solidFill>
                <a:latin typeface="Calibri"/>
                <a:cs typeface="Calibri"/>
              </a:rPr>
              <a:t>|</a:t>
            </a:r>
            <a:r>
              <a:rPr dirty="0" sz="950" spc="70">
                <a:solidFill>
                  <a:srgbClr val="F8D4EB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F8D4EB"/>
                </a:solidFill>
                <a:latin typeface="Calibri"/>
                <a:cs typeface="Calibri"/>
              </a:rPr>
              <a:t>20089221</a:t>
            </a:r>
            <a:r>
              <a:rPr dirty="0" sz="950" spc="130">
                <a:solidFill>
                  <a:srgbClr val="F8D4EB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F8D4EB"/>
                </a:solidFill>
                <a:latin typeface="Calibri"/>
                <a:cs typeface="Calibri"/>
              </a:rPr>
              <a:t>|</a:t>
            </a:r>
            <a:r>
              <a:rPr dirty="0" sz="950" spc="95">
                <a:solidFill>
                  <a:srgbClr val="F8D4EB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F8D4EB"/>
                </a:solidFill>
                <a:latin typeface="Calibri"/>
                <a:cs typeface="Calibri"/>
              </a:rPr>
              <a:t>B9IS123</a:t>
            </a:r>
            <a:r>
              <a:rPr dirty="0" sz="950" spc="90">
                <a:solidFill>
                  <a:srgbClr val="F8D4EB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F8D4EB"/>
                </a:solidFill>
                <a:latin typeface="Calibri"/>
                <a:cs typeface="Calibri"/>
              </a:rPr>
              <a:t>|</a:t>
            </a:r>
            <a:r>
              <a:rPr dirty="0" sz="950" spc="105">
                <a:solidFill>
                  <a:srgbClr val="F8D4EB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F8D4EB"/>
                </a:solidFill>
                <a:latin typeface="Calibri"/>
                <a:cs typeface="Calibri"/>
              </a:rPr>
              <a:t>Paul</a:t>
            </a:r>
            <a:r>
              <a:rPr dirty="0" sz="950" spc="105">
                <a:solidFill>
                  <a:srgbClr val="F8D4EB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F8D4EB"/>
                </a:solidFill>
                <a:latin typeface="Calibri"/>
                <a:cs typeface="Calibri"/>
              </a:rPr>
              <a:t>Laird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2026-04-12T15:27:29Z</dcterms:created>
  <dcterms:modified xsi:type="dcterms:W3CDTF">2026-04-12T15:27:29Z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2026-04-12T00:00:00Z</vt:filetime>
  </property>
  <property fmtid="{D5CDD505-2E9C-101B-9397-08002B2CF9AE}" pid="4" name="LastSaved">
    <vt:filetime>2026-04-12T00:00:00Z</vt:filetime>
  </property>
</Properties>
</file>